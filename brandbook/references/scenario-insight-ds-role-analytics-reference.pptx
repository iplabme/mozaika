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 snapToObjects="1">
      <p:cViewPr varScale="1">
        <p:scale>
          <a:sx n="95" d="100"/>
          <a:sy n="95" d="100"/>
        </p:scale>
        <p:origin x="200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Кодер (Lab+Code)</c:v>
                </c:pt>
              </c:strCache>
            </c:strRef>
          </c:tx>
          <c:spPr>
            <a:solidFill>
              <a:srgbClr val="7AA88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PT Sans"/>
                  </a:defRPr>
                </a:pPr>
                <a:endParaRPr lang="en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JDS</c:v>
                </c:pt>
                <c:pt idx="1">
                  <c:v>MDS</c:v>
                </c:pt>
                <c:pt idx="2">
                  <c:v>SDC</c:v>
                </c:pt>
                <c:pt idx="3">
                  <c:v>TLDS</c:v>
                </c:pt>
                <c:pt idx="4">
                  <c:v>CDS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36</c:v>
                </c:pt>
                <c:pt idx="2">
                  <c:v>24</c:v>
                </c:pt>
                <c:pt idx="3">
                  <c:v>19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8E8-5C4A-AAC9-27E611514F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Аналитик (Lab+Jira)</c:v>
                </c:pt>
              </c:strCache>
            </c:strRef>
          </c:tx>
          <c:spPr>
            <a:solidFill>
              <a:srgbClr val="889EB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PT Sans"/>
                  </a:defRPr>
                </a:pPr>
                <a:endParaRPr lang="en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JDS</c:v>
                </c:pt>
                <c:pt idx="1">
                  <c:v>MDS</c:v>
                </c:pt>
                <c:pt idx="2">
                  <c:v>SDC</c:v>
                </c:pt>
                <c:pt idx="3">
                  <c:v>TLDS</c:v>
                </c:pt>
                <c:pt idx="4">
                  <c:v>CDS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</c:v>
                </c:pt>
                <c:pt idx="1">
                  <c:v>18</c:v>
                </c:pt>
                <c:pt idx="2">
                  <c:v>23</c:v>
                </c:pt>
                <c:pt idx="3">
                  <c:v>36</c:v>
                </c:pt>
                <c:pt idx="4">
                  <c:v>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8E8-5C4A-AAC9-27E611514F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Коммуникатор (Outlook)</c:v>
                </c:pt>
              </c:strCache>
            </c:strRef>
          </c:tx>
          <c:spPr>
            <a:solidFill>
              <a:srgbClr val="C8A25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PT Sans"/>
                  </a:defRPr>
                </a:pPr>
                <a:endParaRPr lang="en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JDS</c:v>
                </c:pt>
                <c:pt idx="1">
                  <c:v>MDS</c:v>
                </c:pt>
                <c:pt idx="2">
                  <c:v>SDC</c:v>
                </c:pt>
                <c:pt idx="3">
                  <c:v>TLDS</c:v>
                </c:pt>
                <c:pt idx="4">
                  <c:v>CDS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</c:v>
                </c:pt>
                <c:pt idx="1">
                  <c:v>22</c:v>
                </c:pt>
                <c:pt idx="2">
                  <c:v>24</c:v>
                </c:pt>
                <c:pt idx="3">
                  <c:v>28</c:v>
                </c:pt>
                <c:pt idx="4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8E8-5C4A-AAC9-27E611514FC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Неактивный</c:v>
                </c:pt>
              </c:strCache>
            </c:strRef>
          </c:tx>
          <c:spPr>
            <a:solidFill>
              <a:srgbClr val="ECCCC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PT Sans"/>
                  </a:defRPr>
                </a:pPr>
                <a:endParaRPr lang="en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JDS</c:v>
                </c:pt>
                <c:pt idx="1">
                  <c:v>MDS</c:v>
                </c:pt>
                <c:pt idx="2">
                  <c:v>SDC</c:v>
                </c:pt>
                <c:pt idx="3">
                  <c:v>TLDS</c:v>
                </c:pt>
                <c:pt idx="4">
                  <c:v>CDS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1</c:v>
                </c:pt>
                <c:pt idx="4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E8E8-5C4A-AAC9-27E611514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78593"/>
                </a:solidFill>
                <a:latin typeface="PT Sans"/>
              </a:defRPr>
            </a:pPr>
            <a:endParaRPr lang="en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78593"/>
                </a:solidFill>
                <a:latin typeface="PT Sans"/>
              </a:defRPr>
            </a:pPr>
            <a:endParaRPr lang="en-RU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78593"/>
              </a:solidFill>
              <a:latin typeface="PT Sans"/>
            </a:defRPr>
          </a:pPr>
          <a:endParaRPr lang="en-RU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(%)</c:v>
                </c:pt>
              </c:strCache>
            </c:strRef>
          </c:tx>
          <c:spPr>
            <a:solidFill>
              <a:srgbClr val="7AA88C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Р</c:v>
                </c:pt>
                <c:pt idx="1">
                  <c:v>Ф</c:v>
                </c:pt>
                <c:pt idx="2">
                  <c:v>А</c:v>
                </c:pt>
                <c:pt idx="3">
                  <c:v>К</c:v>
                </c:pt>
                <c:pt idx="4">
                  <c:v>Ро</c:v>
                </c:pt>
                <c:pt idx="5">
                  <c:v>СП</c:v>
                </c:pt>
                <c:pt idx="6">
                  <c:v>Т</c:v>
                </c:pt>
                <c:pt idx="7">
                  <c:v>С</c:v>
                </c:pt>
                <c:pt idx="8">
                  <c:v>В</c:v>
                </c:pt>
                <c:pt idx="9">
                  <c:v>ИИ</c:v>
                </c:pt>
                <c:pt idx="10">
                  <c:v>Ст</c:v>
                </c:pt>
                <c:pt idx="11">
                  <c:v>Пр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87</c:v>
                </c:pt>
                <c:pt idx="1">
                  <c:v>82</c:v>
                </c:pt>
                <c:pt idx="2">
                  <c:v>96</c:v>
                </c:pt>
                <c:pt idx="3">
                  <c:v>83</c:v>
                </c:pt>
                <c:pt idx="4">
                  <c:v>89</c:v>
                </c:pt>
                <c:pt idx="5">
                  <c:v>83</c:v>
                </c:pt>
                <c:pt idx="6">
                  <c:v>65</c:v>
                </c:pt>
                <c:pt idx="7">
                  <c:v>42</c:v>
                </c:pt>
                <c:pt idx="8">
                  <c:v>63</c:v>
                </c:pt>
                <c:pt idx="9">
                  <c:v>53</c:v>
                </c:pt>
                <c:pt idx="10">
                  <c:v>40</c:v>
                </c:pt>
                <c:pt idx="11">
                  <c:v>70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D3C-9345-9B13-1E4FFFC2C7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Код (%)</c:v>
                </c:pt>
              </c:strCache>
            </c:strRef>
          </c:tx>
          <c:spPr>
            <a:solidFill>
              <a:srgbClr val="C8A258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Р</c:v>
                </c:pt>
                <c:pt idx="1">
                  <c:v>Ф</c:v>
                </c:pt>
                <c:pt idx="2">
                  <c:v>А</c:v>
                </c:pt>
                <c:pt idx="3">
                  <c:v>К</c:v>
                </c:pt>
                <c:pt idx="4">
                  <c:v>Ро</c:v>
                </c:pt>
                <c:pt idx="5">
                  <c:v>СП</c:v>
                </c:pt>
                <c:pt idx="6">
                  <c:v>Т</c:v>
                </c:pt>
                <c:pt idx="7">
                  <c:v>С</c:v>
                </c:pt>
                <c:pt idx="8">
                  <c:v>В</c:v>
                </c:pt>
                <c:pt idx="9">
                  <c:v>ИИ</c:v>
                </c:pt>
                <c:pt idx="10">
                  <c:v>Ст</c:v>
                </c:pt>
                <c:pt idx="11">
                  <c:v>Пр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</c:v>
                </c:pt>
                <c:pt idx="1">
                  <c:v>17</c:v>
                </c:pt>
                <c:pt idx="2">
                  <c:v>0</c:v>
                </c:pt>
                <c:pt idx="3">
                  <c:v>37</c:v>
                </c:pt>
                <c:pt idx="4">
                  <c:v>31</c:v>
                </c:pt>
                <c:pt idx="5">
                  <c:v>35</c:v>
                </c:pt>
                <c:pt idx="6">
                  <c:v>65</c:v>
                </c:pt>
                <c:pt idx="7">
                  <c:v>54</c:v>
                </c:pt>
                <c:pt idx="8">
                  <c:v>29</c:v>
                </c:pt>
                <c:pt idx="9">
                  <c:v>1</c:v>
                </c:pt>
                <c:pt idx="10">
                  <c:v>14</c:v>
                </c:pt>
                <c:pt idx="11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D3C-9345-9B13-1E4FFFC2C7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Meetings (%)</c:v>
                </c:pt>
              </c:strCache>
            </c:strRef>
          </c:tx>
          <c:spPr>
            <a:solidFill>
              <a:srgbClr val="C4D3E2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Р</c:v>
                </c:pt>
                <c:pt idx="1">
                  <c:v>Ф</c:v>
                </c:pt>
                <c:pt idx="2">
                  <c:v>А</c:v>
                </c:pt>
                <c:pt idx="3">
                  <c:v>К</c:v>
                </c:pt>
                <c:pt idx="4">
                  <c:v>Ро</c:v>
                </c:pt>
                <c:pt idx="5">
                  <c:v>СП</c:v>
                </c:pt>
                <c:pt idx="6">
                  <c:v>Т</c:v>
                </c:pt>
                <c:pt idx="7">
                  <c:v>С</c:v>
                </c:pt>
                <c:pt idx="8">
                  <c:v>В</c:v>
                </c:pt>
                <c:pt idx="9">
                  <c:v>ИИ</c:v>
                </c:pt>
                <c:pt idx="10">
                  <c:v>Ст</c:v>
                </c:pt>
                <c:pt idx="11">
                  <c:v>Пр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94</c:v>
                </c:pt>
                <c:pt idx="1">
                  <c:v>90</c:v>
                </c:pt>
                <c:pt idx="2">
                  <c:v>100</c:v>
                </c:pt>
                <c:pt idx="3">
                  <c:v>92</c:v>
                </c:pt>
                <c:pt idx="4">
                  <c:v>93</c:v>
                </c:pt>
                <c:pt idx="5">
                  <c:v>92</c:v>
                </c:pt>
                <c:pt idx="6">
                  <c:v>95</c:v>
                </c:pt>
                <c:pt idx="7">
                  <c:v>95</c:v>
                </c:pt>
                <c:pt idx="8">
                  <c:v>92</c:v>
                </c:pt>
                <c:pt idx="9">
                  <c:v>72</c:v>
                </c:pt>
                <c:pt idx="10">
                  <c:v>77</c:v>
                </c:pt>
                <c:pt idx="11">
                  <c:v>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D3C-9345-9B13-1E4FFFC2C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78593"/>
                </a:solidFill>
                <a:latin typeface="PT Sans"/>
              </a:defRPr>
            </a:pPr>
            <a:endParaRPr lang="en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78593"/>
                </a:solidFill>
                <a:latin typeface="PT Sans"/>
              </a:defRPr>
            </a:pPr>
            <a:endParaRPr lang="en-RU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78593"/>
              </a:solidFill>
              <a:latin typeface="PT Sans"/>
            </a:defRPr>
          </a:pPr>
          <a:endParaRPr lang="en-RU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Linux (%)</c:v>
                </c:pt>
              </c:strCache>
            </c:strRef>
          </c:tx>
          <c:spPr>
            <a:solidFill>
              <a:srgbClr val="7AA88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PT Sans"/>
                  </a:defRPr>
                </a:pPr>
                <a:endParaRPr lang="en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JDS</c:v>
                </c:pt>
                <c:pt idx="1">
                  <c:v>MDS</c:v>
                </c:pt>
                <c:pt idx="2">
                  <c:v>SDC</c:v>
                </c:pt>
                <c:pt idx="3">
                  <c:v>TLDS</c:v>
                </c:pt>
                <c:pt idx="4">
                  <c:v>CDS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</c:v>
                </c:pt>
                <c:pt idx="1">
                  <c:v>68</c:v>
                </c:pt>
                <c:pt idx="2">
                  <c:v>57</c:v>
                </c:pt>
                <c:pt idx="3">
                  <c:v>56</c:v>
                </c:pt>
                <c:pt idx="4">
                  <c:v>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56C-4547-AC85-A95563E916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Windows (%)</c:v>
                </c:pt>
              </c:strCache>
            </c:strRef>
          </c:tx>
          <c:spPr>
            <a:solidFill>
              <a:srgbClr val="889EB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PT Sans"/>
                  </a:defRPr>
                </a:pPr>
                <a:endParaRPr lang="en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JDS</c:v>
                </c:pt>
                <c:pt idx="1">
                  <c:v>MDS</c:v>
                </c:pt>
                <c:pt idx="2">
                  <c:v>SDC</c:v>
                </c:pt>
                <c:pt idx="3">
                  <c:v>TLDS</c:v>
                </c:pt>
                <c:pt idx="4">
                  <c:v>CDS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</c:v>
                </c:pt>
                <c:pt idx="1">
                  <c:v>44</c:v>
                </c:pt>
                <c:pt idx="2">
                  <c:v>42</c:v>
                </c:pt>
                <c:pt idx="3">
                  <c:v>32</c:v>
                </c:pt>
                <c:pt idx="4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56C-4547-AC85-A95563E916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MacOS (%)</c:v>
                </c:pt>
              </c:strCache>
            </c:strRef>
          </c:tx>
          <c:spPr>
            <a:solidFill>
              <a:srgbClr val="C8A25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PT Sans"/>
                  </a:defRPr>
                </a:pPr>
                <a:endParaRPr lang="en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JDS</c:v>
                </c:pt>
                <c:pt idx="1">
                  <c:v>MDS</c:v>
                </c:pt>
                <c:pt idx="2">
                  <c:v>SDC</c:v>
                </c:pt>
                <c:pt idx="3">
                  <c:v>TLDS</c:v>
                </c:pt>
                <c:pt idx="4">
                  <c:v>CDS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</c:v>
                </c:pt>
                <c:pt idx="1">
                  <c:v>17</c:v>
                </c:pt>
                <c:pt idx="2">
                  <c:v>22</c:v>
                </c:pt>
                <c:pt idx="3">
                  <c:v>31</c:v>
                </c:pt>
                <c:pt idx="4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56C-4547-AC85-A95563E916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78593"/>
                </a:solidFill>
                <a:latin typeface="PT Sans"/>
              </a:defRPr>
            </a:pPr>
            <a:endParaRPr lang="en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78593"/>
                </a:solidFill>
                <a:latin typeface="PT Sans"/>
              </a:defRPr>
            </a:pPr>
            <a:endParaRPr lang="en-RU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78593"/>
              </a:solidFill>
              <a:latin typeface="PT Sans"/>
            </a:defRPr>
          </a:pPr>
          <a:endParaRPr lang="en-RU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223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C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822960"/>
            <a:ext cx="2176272" cy="5212080"/>
          </a:xfrm>
          <a:prstGeom prst="round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1097280" cy="1097280"/>
          </a:xfrm>
          <a:prstGeom prst="ellipse">
            <a:avLst/>
          </a:prstGeom>
          <a:noFill/>
          <a:ln w="15240">
            <a:solidFill>
              <a:srgbClr val="BD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0" y="4663440"/>
            <a:ext cx="731520" cy="731520"/>
          </a:xfrm>
          <a:prstGeom prst="ellipse">
            <a:avLst/>
          </a:prstGeom>
          <a:noFill/>
          <a:ln w="1524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DD8C6"/>
                </a:solidFill>
                <a:latin typeface="PT Sans Narrow"/>
              </a:rPr>
              <a:t>Data Scientist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PT Sans Narrow"/>
              </a:rPr>
              <a:t>Цифровой профиль
и соответствие роли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41648"/>
            <a:ext cx="4389120" cy="254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4224528"/>
            <a:ext cx="7315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DD8C6"/>
                </a:solidFill>
                <a:latin typeface="PT Sans"/>
              </a:rPr>
              <a:t>1</a:t>
            </a:r>
            <a:r>
              <a:rPr lang="en-US" sz="1500" b="0" i="0" dirty="0">
                <a:solidFill>
                  <a:srgbClr val="BDD8C6"/>
                </a:solidFill>
                <a:latin typeface="PT Sans"/>
              </a:rPr>
              <a:t>00</a:t>
            </a:r>
            <a:r>
              <a:rPr sz="1500" b="0" i="0" dirty="0">
                <a:solidFill>
                  <a:srgbClr val="BDD8C6"/>
                </a:solidFill>
                <a:latin typeface="PT Sans"/>
              </a:rPr>
              <a:t> </a:t>
            </a:r>
            <a:r>
              <a:rPr sz="1500" b="0" i="0" dirty="0" err="1">
                <a:solidFill>
                  <a:srgbClr val="BDD8C6"/>
                </a:solidFill>
                <a:latin typeface="PT Sans"/>
              </a:rPr>
              <a:t>специалистов</a:t>
            </a:r>
            <a:r>
              <a:rPr sz="1500" b="0" i="0" dirty="0">
                <a:solidFill>
                  <a:srgbClr val="BDD8C6"/>
                </a:solidFill>
                <a:latin typeface="PT Sans"/>
              </a:rPr>
              <a:t>  ·  5 </a:t>
            </a:r>
            <a:r>
              <a:rPr sz="1500" b="0" i="0" dirty="0" err="1">
                <a:solidFill>
                  <a:srgbClr val="BDD8C6"/>
                </a:solidFill>
                <a:latin typeface="PT Sans"/>
              </a:rPr>
              <a:t>подтипов</a:t>
            </a:r>
            <a:r>
              <a:rPr sz="1500" b="0" i="0" dirty="0">
                <a:solidFill>
                  <a:srgbClr val="BDD8C6"/>
                </a:solidFill>
                <a:latin typeface="PT Sans"/>
              </a:rPr>
              <a:t>  ·  1</a:t>
            </a:r>
            <a:r>
              <a:rPr lang="en-US" sz="1500" b="0" i="0" dirty="0">
                <a:solidFill>
                  <a:srgbClr val="BDD8C6"/>
                </a:solidFill>
                <a:latin typeface="PT Sans"/>
              </a:rPr>
              <a:t>0</a:t>
            </a:r>
            <a:r>
              <a:rPr sz="1500" b="0" i="0" dirty="0">
                <a:solidFill>
                  <a:srgbClr val="BDD8C6"/>
                </a:solidFill>
                <a:latin typeface="PT Sans"/>
              </a:rPr>
              <a:t> </a:t>
            </a:r>
            <a:r>
              <a:rPr sz="1500" b="0" i="0" dirty="0" err="1">
                <a:solidFill>
                  <a:srgbClr val="BDD8C6"/>
                </a:solidFill>
                <a:latin typeface="PT Sans"/>
              </a:rPr>
              <a:t>блоков</a:t>
            </a:r>
            <a:endParaRPr sz="1500" b="0" i="0" dirty="0">
              <a:solidFill>
                <a:srgbClr val="BDD8C6"/>
              </a:solidFill>
              <a:latin typeface="PT San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5084064"/>
            <a:ext cx="2926080" cy="512064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5084064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PT Sans Narrow"/>
              </a:rPr>
              <a:t>Аналитика</a:t>
            </a:r>
            <a:r>
              <a:rPr sz="1400" b="1" i="0" dirty="0">
                <a:solidFill>
                  <a:srgbClr val="FFFFFF"/>
                </a:solidFill>
                <a:latin typeface="PT Sans Narrow"/>
              </a:rPr>
              <a:t> 202</a:t>
            </a:r>
            <a:r>
              <a:rPr lang="en-US" sz="1400" b="1" i="0" dirty="0">
                <a:solidFill>
                  <a:srgbClr val="FFFFFF"/>
                </a:solidFill>
                <a:latin typeface="PT Sans Narrow"/>
              </a:rPr>
              <a:t>3</a:t>
            </a:r>
            <a:r>
              <a:rPr sz="1400" b="1" i="0" dirty="0">
                <a:solidFill>
                  <a:srgbClr val="FFFFFF"/>
                </a:solidFill>
                <a:latin typeface="PT Sans Narrow"/>
              </a:rPr>
              <a:t>–202</a:t>
            </a:r>
            <a:r>
              <a:rPr lang="en-US" sz="1400" b="1" i="0" dirty="0">
                <a:solidFill>
                  <a:srgbClr val="FFFFFF"/>
                </a:solidFill>
                <a:latin typeface="PT Sans Narrow"/>
              </a:rPr>
              <a:t>4</a:t>
            </a:r>
            <a:endParaRPr sz="1400" b="1" i="0" dirty="0">
              <a:solidFill>
                <a:srgbClr val="FFFFFF"/>
              </a:solidFill>
              <a:latin typeface="PT Sans Narrow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7315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 err="1">
                <a:solidFill>
                  <a:srgbClr val="607888"/>
                </a:solidFill>
                <a:latin typeface="PT Sans"/>
              </a:rPr>
              <a:t>Источник</a:t>
            </a:r>
            <a:r>
              <a:rPr sz="900" b="0" i="1" dirty="0">
                <a:solidFill>
                  <a:srgbClr val="607888"/>
                </a:solidFill>
                <a:latin typeface="PT Sans"/>
              </a:rPr>
              <a:t>:· </a:t>
            </a:r>
            <a:r>
              <a:rPr sz="900" b="0" i="1" dirty="0" err="1">
                <a:solidFill>
                  <a:srgbClr val="607888"/>
                </a:solidFill>
                <a:latin typeface="PT Sans"/>
              </a:rPr>
              <a:t>Июль</a:t>
            </a:r>
            <a:r>
              <a:rPr sz="900" b="0" i="1" dirty="0">
                <a:solidFill>
                  <a:srgbClr val="607888"/>
                </a:solidFill>
                <a:latin typeface="PT Sans"/>
              </a:rPr>
              <a:t> 202</a:t>
            </a:r>
            <a:r>
              <a:rPr lang="en-US" sz="900" b="0" i="1" dirty="0">
                <a:solidFill>
                  <a:srgbClr val="607888"/>
                </a:solidFill>
                <a:latin typeface="PT Sans"/>
              </a:rPr>
              <a:t>4</a:t>
            </a:r>
            <a:endParaRPr sz="900" b="0" i="1" dirty="0">
              <a:solidFill>
                <a:srgbClr val="607888"/>
              </a:solidFill>
              <a:latin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" y="118872"/>
            <a:ext cx="9144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A3642"/>
                </a:solidFill>
                <a:latin typeface="PT Sans Narrow"/>
              </a:rPr>
              <a:t>Data Scientist — это не одна роль: 5 подтипов с разными функциями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13232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A6E7C"/>
                </a:solidFill>
                <a:latin typeface="PT Sans"/>
              </a:rPr>
              <a:t>105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чел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.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в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едином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названии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скрывают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принципиально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разные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профессиональные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профили</a:t>
            </a:r>
            <a:endParaRPr sz="1200" b="0" i="0" dirty="0">
              <a:solidFill>
                <a:srgbClr val="5A6E7C"/>
              </a:solidFill>
              <a:latin typeface="PT San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607040" y="91440"/>
            <a:ext cx="1444752" cy="347472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T Sans Narrow"/>
              </a:rPr>
              <a:t>Архитектура роли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097280"/>
            <a:ext cx="11384280" cy="1016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2336" y="1225296"/>
            <a:ext cx="2249424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2336" y="1225296"/>
            <a:ext cx="2249424" cy="508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389888"/>
            <a:ext cx="914400" cy="365760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JDS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Junior 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31136"/>
            <a:ext cx="1956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7AA88C"/>
                </a:solidFill>
                <a:latin typeface="PT Sans Narrow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чел.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52928"/>
            <a:ext cx="1956816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6928" y="3035808"/>
            <a:ext cx="76200" cy="76200"/>
          </a:xfrm>
          <a:prstGeom prst="ellipse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9809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Базовый ML-pipeline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3547872"/>
            <a:ext cx="76200" cy="76200"/>
          </a:xfrm>
          <a:prstGeom prst="ellipse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493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Feature engineering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059935"/>
            <a:ext cx="76200" cy="76200"/>
          </a:xfrm>
          <a:prstGeom prst="ellipse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400507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Валидация моделей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4571999"/>
            <a:ext cx="76200" cy="76200"/>
          </a:xfrm>
          <a:prstGeom prst="ellipse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5171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Базовый RAG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1488" y="1225296"/>
            <a:ext cx="2249424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61488" y="1225296"/>
            <a:ext cx="2249424" cy="50800"/>
          </a:xfrm>
          <a:prstGeom prst="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907792" y="1389888"/>
            <a:ext cx="914400" cy="365760"/>
          </a:xfrm>
          <a:prstGeom prst="round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07792" y="1389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MDS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1865376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Middle 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2231136"/>
            <a:ext cx="1956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889EB6"/>
                </a:solidFill>
                <a:latin typeface="PT Sans Narrow"/>
              </a:rPr>
              <a:t>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чел.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07792" y="2852928"/>
            <a:ext cx="1956816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926080" y="3035808"/>
            <a:ext cx="76200" cy="76200"/>
          </a:xfrm>
          <a:prstGeom prst="ellipse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0" y="29809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Продвинутые ансамбли</a:t>
            </a:r>
          </a:p>
        </p:txBody>
      </p:sp>
      <p:sp>
        <p:nvSpPr>
          <p:cNvPr id="34" name="Oval 33"/>
          <p:cNvSpPr/>
          <p:nvPr/>
        </p:nvSpPr>
        <p:spPr>
          <a:xfrm>
            <a:off x="2926080" y="3547872"/>
            <a:ext cx="76200" cy="76200"/>
          </a:xfrm>
          <a:prstGeom prst="ellipse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08960" y="3493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LLM/LoRA дообучение</a:t>
            </a:r>
          </a:p>
        </p:txBody>
      </p:sp>
      <p:sp>
        <p:nvSpPr>
          <p:cNvPr id="36" name="Oval 35"/>
          <p:cNvSpPr/>
          <p:nvPr/>
        </p:nvSpPr>
        <p:spPr>
          <a:xfrm>
            <a:off x="2926080" y="4059935"/>
            <a:ext cx="76200" cy="76200"/>
          </a:xfrm>
          <a:prstGeom prst="ellipse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8960" y="400507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Промпт-инжиниринг</a:t>
            </a:r>
          </a:p>
        </p:txBody>
      </p:sp>
      <p:sp>
        <p:nvSpPr>
          <p:cNvPr id="38" name="Oval 37"/>
          <p:cNvSpPr/>
          <p:nvPr/>
        </p:nvSpPr>
        <p:spPr>
          <a:xfrm>
            <a:off x="2926080" y="4571999"/>
            <a:ext cx="76200" cy="76200"/>
          </a:xfrm>
          <a:prstGeom prst="ellipse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08960" y="45171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EvalOps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0" y="1225296"/>
            <a:ext cx="2249424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120640" y="1225296"/>
            <a:ext cx="2249424" cy="50800"/>
          </a:xfrm>
          <a:prstGeom prst="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266944" y="1389888"/>
            <a:ext cx="914400" cy="365760"/>
          </a:xfrm>
          <a:prstGeom prst="round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66944" y="1389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SDC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944" y="1865376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Senior 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944" y="2231136"/>
            <a:ext cx="1956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C8A258"/>
                </a:solidFill>
                <a:latin typeface="PT Sans Narrow"/>
              </a:rPr>
              <a:t>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98464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чел.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66944" y="2852928"/>
            <a:ext cx="1956816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285232" y="3035808"/>
            <a:ext cx="76200" cy="76200"/>
          </a:xfrm>
          <a:prstGeom prst="ellipse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2" y="29809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Архитектура ML/AI</a:t>
            </a:r>
          </a:p>
        </p:txBody>
      </p:sp>
      <p:sp>
        <p:nvSpPr>
          <p:cNvPr id="50" name="Oval 49"/>
          <p:cNvSpPr/>
          <p:nvPr/>
        </p:nvSpPr>
        <p:spPr>
          <a:xfrm>
            <a:off x="5285232" y="3547872"/>
            <a:ext cx="76200" cy="76200"/>
          </a:xfrm>
          <a:prstGeom prst="ellipse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68112" y="3493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R&amp;D в GenAI</a:t>
            </a:r>
          </a:p>
        </p:txBody>
      </p:sp>
      <p:sp>
        <p:nvSpPr>
          <p:cNvPr id="52" name="Oval 51"/>
          <p:cNvSpPr/>
          <p:nvPr/>
        </p:nvSpPr>
        <p:spPr>
          <a:xfrm>
            <a:off x="5285232" y="4059935"/>
            <a:ext cx="76200" cy="76200"/>
          </a:xfrm>
          <a:prstGeom prst="ellipse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68112" y="400507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Доменная экспертиза</a:t>
            </a:r>
          </a:p>
        </p:txBody>
      </p:sp>
      <p:sp>
        <p:nvSpPr>
          <p:cNvPr id="54" name="Oval 53"/>
          <p:cNvSpPr/>
          <p:nvPr/>
        </p:nvSpPr>
        <p:spPr>
          <a:xfrm>
            <a:off x="5285232" y="4571999"/>
            <a:ext cx="76200" cy="76200"/>
          </a:xfrm>
          <a:prstGeom prst="ellipse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68112" y="45171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Multi-agent systems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79792" y="1225296"/>
            <a:ext cx="2249424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479792" y="1225296"/>
            <a:ext cx="2249424" cy="50800"/>
          </a:xfrm>
          <a:prstGeom prst="rect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626096" y="1389888"/>
            <a:ext cx="914400" cy="365760"/>
          </a:xfrm>
          <a:prstGeom prst="roundRect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626096" y="1389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TLDS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6096" y="1865376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Tech Lead 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26096" y="2231136"/>
            <a:ext cx="1956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9E94C6"/>
                </a:solidFill>
                <a:latin typeface="PT Sans Narrow"/>
              </a:rPr>
              <a:t>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57616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чел.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26096" y="2852928"/>
            <a:ext cx="1956816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644383" y="3035808"/>
            <a:ext cx="76200" cy="76200"/>
          </a:xfrm>
          <a:prstGeom prst="ellipse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27264" y="29809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Управление DS-портфелем</a:t>
            </a:r>
          </a:p>
        </p:txBody>
      </p:sp>
      <p:sp>
        <p:nvSpPr>
          <p:cNvPr id="66" name="Oval 65"/>
          <p:cNvSpPr/>
          <p:nvPr/>
        </p:nvSpPr>
        <p:spPr>
          <a:xfrm>
            <a:off x="7644383" y="3547872"/>
            <a:ext cx="76200" cy="76200"/>
          </a:xfrm>
          <a:prstGeom prst="ellipse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827264" y="3493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Техлидерство</a:t>
            </a:r>
          </a:p>
        </p:txBody>
      </p:sp>
      <p:sp>
        <p:nvSpPr>
          <p:cNvPr id="68" name="Oval 67"/>
          <p:cNvSpPr/>
          <p:nvPr/>
        </p:nvSpPr>
        <p:spPr>
          <a:xfrm>
            <a:off x="7644383" y="4059935"/>
            <a:ext cx="76200" cy="76200"/>
          </a:xfrm>
          <a:prstGeom prst="ellipse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827264" y="400507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Architecture decisions</a:t>
            </a:r>
          </a:p>
        </p:txBody>
      </p:sp>
      <p:sp>
        <p:nvSpPr>
          <p:cNvPr id="70" name="Oval 69"/>
          <p:cNvSpPr/>
          <p:nvPr/>
        </p:nvSpPr>
        <p:spPr>
          <a:xfrm>
            <a:off x="7644383" y="4571999"/>
            <a:ext cx="76200" cy="76200"/>
          </a:xfrm>
          <a:prstGeom prst="ellipse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827264" y="45171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Mentoring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38944" y="1225296"/>
            <a:ext cx="2249424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838944" y="1225296"/>
            <a:ext cx="2249424" cy="50800"/>
          </a:xfrm>
          <a:prstGeom prst="rect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985248" y="1389888"/>
            <a:ext cx="914400" cy="365760"/>
          </a:xfrm>
          <a:prstGeom prst="roundRect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85248" y="1389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CDS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85248" y="1865376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Chief 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85248" y="2231136"/>
            <a:ext cx="1956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C88A7C"/>
                </a:solidFill>
                <a:latin typeface="PT Sans Narrow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16768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чел.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985248" y="2852928"/>
            <a:ext cx="1956816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0003536" y="3035808"/>
            <a:ext cx="76200" cy="76200"/>
          </a:xfrm>
          <a:prstGeom prst="ellipse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86416" y="29809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Стратегия AI</a:t>
            </a:r>
          </a:p>
        </p:txBody>
      </p:sp>
      <p:sp>
        <p:nvSpPr>
          <p:cNvPr id="82" name="Oval 81"/>
          <p:cNvSpPr/>
          <p:nvPr/>
        </p:nvSpPr>
        <p:spPr>
          <a:xfrm>
            <a:off x="10003536" y="3547872"/>
            <a:ext cx="76200" cy="76200"/>
          </a:xfrm>
          <a:prstGeom prst="ellipse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186416" y="3493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Управление направлением</a:t>
            </a:r>
          </a:p>
        </p:txBody>
      </p:sp>
      <p:sp>
        <p:nvSpPr>
          <p:cNvPr id="84" name="Oval 83"/>
          <p:cNvSpPr/>
          <p:nvPr/>
        </p:nvSpPr>
        <p:spPr>
          <a:xfrm>
            <a:off x="10003536" y="4059935"/>
            <a:ext cx="76200" cy="76200"/>
          </a:xfrm>
          <a:prstGeom prst="ellipse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186416" y="400507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Vendor relations</a:t>
            </a:r>
          </a:p>
        </p:txBody>
      </p:sp>
      <p:sp>
        <p:nvSpPr>
          <p:cNvPr id="86" name="Oval 85"/>
          <p:cNvSpPr/>
          <p:nvPr/>
        </p:nvSpPr>
        <p:spPr>
          <a:xfrm>
            <a:off x="10003536" y="4571999"/>
            <a:ext cx="76200" cy="76200"/>
          </a:xfrm>
          <a:prstGeom prst="ellipse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186416" y="45171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E7C"/>
                </a:solidFill>
                <a:latin typeface="PT Sans"/>
              </a:rPr>
              <a:t>Board-level reporting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02336" y="6455664"/>
            <a:ext cx="11384280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02336" y="6528816"/>
            <a:ext cx="11384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9AA8B2"/>
                </a:solidFill>
                <a:latin typeface="PT Sans"/>
              </a:rPr>
              <a:t>JDS=281 · MDS=536 · SDC=325 · TLDS=129 · CDS=25  · 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Итого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: 105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специалистов</a:t>
            </a:r>
            <a:endParaRPr sz="900" b="0" i="1" dirty="0">
              <a:solidFill>
                <a:srgbClr val="9AA8B2"/>
              </a:solidFill>
              <a:latin typeface="P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" y="118872"/>
            <a:ext cx="9144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A3642"/>
                </a:solidFill>
                <a:latin typeface="PT Sans Narrow"/>
              </a:rPr>
              <a:t>Цифровой профиль: DS использует инструменты 13 профессий — но не своей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1323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Матрица активности: % роли, использующих хотя бы 1 инструмент из профессиональной группы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91440"/>
            <a:ext cx="1444752" cy="347472"/>
          </a:xfrm>
          <a:prstGeom prst="round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T Sans Narrow"/>
              </a:rPr>
              <a:t>S3А · Матрица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097280"/>
            <a:ext cx="11384280" cy="1016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0" y="1188720"/>
            <a:ext cx="1499616" cy="566928"/>
          </a:xfrm>
          <a:prstGeom prst="round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20700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T Sans Narrow"/>
              </a:rPr>
              <a:t>JDS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481328"/>
            <a:ext cx="1499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BDD8C6"/>
                </a:solidFill>
                <a:latin typeface="PT Sans"/>
              </a:rPr>
              <a:t>n=21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9824" y="1188720"/>
            <a:ext cx="1499616" cy="566928"/>
          </a:xfrm>
          <a:prstGeom prst="round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9824" y="120700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T Sans Narrow"/>
              </a:rPr>
              <a:t>MDS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481328"/>
            <a:ext cx="1499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BDD8C6"/>
                </a:solidFill>
                <a:latin typeface="PT Sans"/>
              </a:rPr>
              <a:t>n=56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9168" y="1188720"/>
            <a:ext cx="1499616" cy="566928"/>
          </a:xfrm>
          <a:prstGeom prst="round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9168" y="120700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T Sans Narrow"/>
              </a:rPr>
              <a:t>SDC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481328"/>
            <a:ext cx="1499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BDD8C6"/>
                </a:solidFill>
                <a:latin typeface="PT Sans"/>
              </a:rPr>
              <a:t>n=35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68512" y="1188720"/>
            <a:ext cx="1499616" cy="566928"/>
          </a:xfrm>
          <a:prstGeom prst="round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120700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T Sans Narrow"/>
              </a:rPr>
              <a:t>TLDS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481328"/>
            <a:ext cx="1499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BDD8C6"/>
                </a:solidFill>
                <a:latin typeface="PT Sans"/>
              </a:rPr>
              <a:t>n=19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77856" y="1188720"/>
            <a:ext cx="1499616" cy="566928"/>
          </a:xfrm>
          <a:prstGeom prst="round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77856" y="120700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T Sans Narrow"/>
              </a:rPr>
              <a:t>CDS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7856" y="1481328"/>
            <a:ext cx="1499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BDD8C6"/>
                </a:solidFill>
                <a:latin typeface="PT Sans"/>
              </a:rPr>
              <a:t>n=5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1865376"/>
            <a:ext cx="331012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02336" y="1865376"/>
            <a:ext cx="50800" cy="438912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1938528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Data Исследователь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50208" y="1920240"/>
            <a:ext cx="1280160" cy="329184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50208" y="19202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93.2%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59552" y="1920240"/>
            <a:ext cx="1280160" cy="329184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59552" y="19202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91.4%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68896" y="1920240"/>
            <a:ext cx="1280160" cy="329184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68896" y="19202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91.1%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1920240"/>
            <a:ext cx="1280160" cy="329184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0" y="19202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88.4%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87584" y="1920240"/>
            <a:ext cx="1280160" cy="329184"/>
          </a:xfrm>
          <a:prstGeom prst="roundRect">
            <a:avLst/>
          </a:prstGeom>
          <a:solidFill>
            <a:srgbClr val="B6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87584" y="19202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3642"/>
                </a:solidFill>
                <a:latin typeface="PT Sans Narrow"/>
              </a:rPr>
              <a:t>56.0%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" y="2359152"/>
            <a:ext cx="3310128" cy="438912"/>
          </a:xfrm>
          <a:prstGeom prst="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02336" y="2359152"/>
            <a:ext cx="50800" cy="438912"/>
          </a:xfrm>
          <a:prstGeom prst="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2432304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Коммуникации/Управление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50208" y="2414016"/>
            <a:ext cx="1280160" cy="329184"/>
          </a:xfrm>
          <a:prstGeom prst="round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50208" y="24140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96.8%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59552" y="2414016"/>
            <a:ext cx="1280160" cy="329184"/>
          </a:xfrm>
          <a:prstGeom prst="round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9552" y="24140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95.1%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68896" y="2414016"/>
            <a:ext cx="1280160" cy="329184"/>
          </a:xfrm>
          <a:prstGeom prst="round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68896" y="24140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97.2%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78240" y="2414016"/>
            <a:ext cx="1280160" cy="329184"/>
          </a:xfrm>
          <a:prstGeom prst="round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78240" y="24140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100.0%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87584" y="2414016"/>
            <a:ext cx="1280160" cy="329184"/>
          </a:xfrm>
          <a:prstGeom prst="round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87584" y="24140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T Sans Narrow"/>
              </a:rPr>
              <a:t>80.0%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" y="2852928"/>
            <a:ext cx="331012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02336" y="2852928"/>
            <a:ext cx="50800" cy="438912"/>
          </a:xfrm>
          <a:prstGeom prst="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6928" y="2926080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Разработчик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50208" y="2907792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50208" y="29077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29.5%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59552" y="2907792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59552" y="29077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32.8%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68896" y="2907792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68896" y="29077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20.0%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78240" y="2907792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78240" y="29077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17.1%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87584" y="2907792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87584" y="29077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8.0%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" y="3346704"/>
            <a:ext cx="3310128" cy="438912"/>
          </a:xfrm>
          <a:prstGeom prst="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02336" y="3346704"/>
            <a:ext cx="50800" cy="438912"/>
          </a:xfrm>
          <a:prstGeom prst="rect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6928" y="3419856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Аналитик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50208" y="3401568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950208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19.9%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559552" y="3401568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559552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21.3%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68896" y="3401568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68896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24.6%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78240" y="3401568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778240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31.0%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387584" y="3401568"/>
            <a:ext cx="1280160" cy="32918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387584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3642"/>
                </a:solidFill>
                <a:latin typeface="PT Sans Narrow"/>
              </a:rPr>
              <a:t>16.0%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2336" y="3840480"/>
            <a:ext cx="331012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02336" y="3840480"/>
            <a:ext cx="50800" cy="438912"/>
          </a:xfrm>
          <a:prstGeom prst="rect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66928" y="3913632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Архитектор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950208" y="3895344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950208" y="38953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1.8%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559552" y="3895344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559552" y="38953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2.1%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168896" y="3895344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168896" y="38953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0.9%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778240" y="3895344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778240" y="38953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3.1%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387584" y="3895344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387584" y="38953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4.0%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02336" y="4334256"/>
            <a:ext cx="3310128" cy="438912"/>
          </a:xfrm>
          <a:prstGeom prst="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02336" y="4334256"/>
            <a:ext cx="50800" cy="438912"/>
          </a:xfrm>
          <a:prstGeom prst="rect">
            <a:avLst/>
          </a:prstGeom>
          <a:solidFill>
            <a:srgbClr val="5A6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66928" y="4407408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Тестировщик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950208" y="4389120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950208" y="43891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2.5%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559552" y="4389120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59552" y="43891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3.5%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168896" y="4389120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168896" y="43891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2.5%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778240" y="4389120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778240" y="43891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5.4%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387584" y="4389120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387584" y="43891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02336" y="4828032"/>
            <a:ext cx="331012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02336" y="4828032"/>
            <a:ext cx="50800" cy="438912"/>
          </a:xfrm>
          <a:prstGeom prst="rect">
            <a:avLst/>
          </a:prstGeom>
          <a:solidFill>
            <a:srgbClr val="9A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66928" y="4901184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Сопровождение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950208" y="4882896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950208" y="48828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4.3%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559552" y="4882896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559552" y="48828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4.1%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168896" y="4882896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168896" y="48828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1.5%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778240" y="4882896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778240" y="48828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3.9%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387584" y="4882896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387584" y="48828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0.0%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02336" y="5321808"/>
            <a:ext cx="3310128" cy="438912"/>
          </a:xfrm>
          <a:prstGeom prst="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02336" y="5321808"/>
            <a:ext cx="50800" cy="438912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" y="5394960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DevOps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950208" y="5376672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950208" y="53766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0.4%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559552" y="5376672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559552" y="53766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1.1%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168896" y="5376672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168896" y="53766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0.9%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778240" y="5376672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778240" y="53766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0.8%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387584" y="5376672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387584" y="53766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02336" y="5815584"/>
            <a:ext cx="331012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402336" y="5815584"/>
            <a:ext cx="50800" cy="438912"/>
          </a:xfrm>
          <a:prstGeom prst="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66928" y="5888736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3642"/>
                </a:solidFill>
                <a:latin typeface="PT Sans"/>
              </a:rPr>
              <a:t>Data Engineer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950208" y="5870448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950208" y="58704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0.0%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559552" y="5870448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559552" y="58704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0.7%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168896" y="5870448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168896" y="58704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0.0%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778240" y="5870448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778240" y="58704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0.0%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387584" y="5870448"/>
            <a:ext cx="12801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0387584" y="58704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2"/>
                </a:solidFill>
                <a:latin typeface="PT Sans Narrow"/>
              </a:rPr>
              <a:t>0.0%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02336" y="6400800"/>
            <a:ext cx="5303520" cy="310896"/>
          </a:xfrm>
          <a:prstGeom prst="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512064" y="6437376"/>
            <a:ext cx="146304" cy="146304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713232" y="64190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E7C"/>
                </a:solidFill>
                <a:latin typeface="PT Sans"/>
              </a:rPr>
              <a:t>≥80% — основная активность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828800" y="6437376"/>
            <a:ext cx="146304" cy="146304"/>
          </a:xfrm>
          <a:prstGeom prst="round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029968" y="64190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E7C"/>
                </a:solidFill>
                <a:latin typeface="PT Sans"/>
              </a:rPr>
              <a:t>40–79% — регулярная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145536" y="6437376"/>
            <a:ext cx="146304" cy="146304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3346704" y="64190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E7C"/>
                </a:solidFill>
                <a:latin typeface="PT Sans"/>
              </a:rPr>
              <a:t>10–39% — эпизодическая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462272" y="6437376"/>
            <a:ext cx="146304" cy="1463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663440" y="64190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E7C"/>
                </a:solidFill>
                <a:latin typeface="PT Sans"/>
              </a:rPr>
              <a:t>&lt;10% — редко/нет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02336" y="6455664"/>
            <a:ext cx="11384280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02272" y="6267096"/>
            <a:ext cx="11384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 err="1">
                <a:solidFill>
                  <a:srgbClr val="9AA8B2"/>
                </a:solidFill>
                <a:latin typeface="PT Sans"/>
              </a:rPr>
              <a:t>Инструме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·  % =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доля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роли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,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имеющих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след</a:t>
            </a:r>
            <a:r>
              <a:rPr lang="en-US" sz="900" i="1" dirty="0">
                <a:solidFill>
                  <a:srgbClr val="9AA8B2"/>
                </a:solidFill>
                <a:latin typeface="PT Sans"/>
              </a:rPr>
              <a:t>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инструменте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группы</a:t>
            </a:r>
            <a:endParaRPr sz="900" b="0" i="1" dirty="0">
              <a:solidFill>
                <a:srgbClr val="9AA8B2"/>
              </a:solidFill>
              <a:latin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" y="118872"/>
            <a:ext cx="9144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A3642"/>
                </a:solidFill>
                <a:latin typeface="PT Sans Narrow"/>
              </a:rPr>
              <a:t>Три поведенческих архетипа: Кодер, Аналитик, Коммуникатор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1323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Независимо от роли — цифровые следы формируют 3 устойчивых паттерна активности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91440"/>
            <a:ext cx="1444752" cy="347472"/>
          </a:xfrm>
          <a:prstGeom prst="round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T Sans Narrow"/>
              </a:rPr>
              <a:t>S3Б · Архетипы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097280"/>
            <a:ext cx="11384280" cy="1016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170432"/>
          <a:ext cx="7498079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73568" y="1170432"/>
            <a:ext cx="4078224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3024" y="1298448"/>
            <a:ext cx="3621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Описание архетипов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1664208"/>
            <a:ext cx="3621024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3024" y="1828800"/>
            <a:ext cx="3621024" cy="987552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93024" y="1828800"/>
            <a:ext cx="63500" cy="987552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19019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A88C"/>
                </a:solidFill>
                <a:latin typeface="PT Sans Narrow"/>
              </a:rPr>
              <a:t>Кодер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A6E7C"/>
                </a:solidFill>
                <a:latin typeface="PT Sans"/>
              </a:rPr>
              <a:t>zone +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BitBucket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активны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.
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Пишет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модели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,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делает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пайплайны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.
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Целевой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профиль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2944368"/>
            <a:ext cx="3621024" cy="987552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3024" y="2944368"/>
            <a:ext cx="63500" cy="987552"/>
          </a:xfrm>
          <a:prstGeom prst="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30175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9EB6"/>
                </a:solidFill>
                <a:latin typeface="PT Sans Narrow"/>
              </a:rPr>
              <a:t>Аналитик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310127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A6E7C"/>
                </a:solidFill>
                <a:latin typeface="PT Sans"/>
              </a:rPr>
              <a:t>zone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есть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,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кода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нет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.
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Работает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с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данными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в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среде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,
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но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не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создаёт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кодовую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базу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4059935"/>
            <a:ext cx="3621024" cy="987552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3024" y="4059935"/>
            <a:ext cx="63500" cy="987552"/>
          </a:xfrm>
          <a:prstGeom prst="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75904" y="4133087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58"/>
                </a:solidFill>
                <a:latin typeface="PT Sans Narrow"/>
              </a:rPr>
              <a:t>Коммуникатор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42569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A6E7C"/>
                </a:solidFill>
                <a:latin typeface="PT Sans"/>
              </a:rPr>
              <a:t>Только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Outlook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и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Jira.
zone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отсутствует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.
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Управляет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,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координирует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5175504"/>
            <a:ext cx="3621024" cy="987552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93024" y="5175504"/>
            <a:ext cx="63500" cy="987552"/>
          </a:xfrm>
          <a:prstGeom prst="rect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52486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8A7C"/>
                </a:solidFill>
                <a:latin typeface="PT Sans Narrow"/>
              </a:rPr>
              <a:t>Неактивный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554126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Следов во всех системах мало.
Возможно — в отпуске,
на ротации или на выходе.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" y="6455664"/>
            <a:ext cx="11384280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2336" y="6528816"/>
            <a:ext cx="11384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 err="1">
                <a:solidFill>
                  <a:srgbClr val="9AA8B2"/>
                </a:solidFill>
                <a:latin typeface="PT Sans"/>
              </a:rPr>
              <a:t>Кодер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= zone AND (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BitBucket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OR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BitBucket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CI DF)  · 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Аналитик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= zone AND Jira AND NOT(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BitBucket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)  · 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Коммуникатор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= NOT(zone) AND Outlook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" y="118872"/>
            <a:ext cx="9144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A3642"/>
                </a:solidFill>
                <a:latin typeface="PT Sans Narrow"/>
              </a:rPr>
              <a:t>Разрез по бизнес-блокам: где DS реально работает vs координирует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13232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A6E7C"/>
                </a:solidFill>
                <a:latin typeface="PT Sans"/>
              </a:rPr>
              <a:t>zone =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фактическая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исследовательская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активность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 ·  Code =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разработка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моделей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 ·  Meetings =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коммуникационная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нагрузка</a:t>
            </a:r>
            <a:endParaRPr sz="1200" b="0" i="0" dirty="0">
              <a:solidFill>
                <a:srgbClr val="5A6E7C"/>
              </a:solidFill>
              <a:latin typeface="PT San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607040" y="91440"/>
            <a:ext cx="1444752" cy="347472"/>
          </a:xfrm>
          <a:prstGeom prst="roundRect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T Sans Narrow"/>
              </a:rPr>
              <a:t>S4 · По блокам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097280"/>
            <a:ext cx="11384280" cy="1016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48762"/>
              </p:ext>
            </p:extLst>
          </p:nvPr>
        </p:nvGraphicFramePr>
        <p:xfrm>
          <a:off x="274320" y="1170432"/>
          <a:ext cx="786384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75904" y="1170432"/>
            <a:ext cx="3584448" cy="5303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298448"/>
            <a:ext cx="3218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Ключевые находки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58784" y="1664208"/>
            <a:ext cx="3218688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58784" y="1828800"/>
            <a:ext cx="3218688" cy="859536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58784" y="1828800"/>
            <a:ext cx="63500" cy="859536"/>
          </a:xfrm>
          <a:prstGeom prst="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9952" y="188366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7A5E"/>
                </a:solidFill>
                <a:latin typeface="PT Sans Narrow"/>
              </a:rPr>
              <a:t>Технологии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194560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A6E7C"/>
                </a:solidFill>
                <a:latin typeface="PT Sans"/>
              </a:rPr>
              <a:t>Lab=65%, Code=65%
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Единственный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баланс</a:t>
            </a:r>
            <a:endParaRPr sz="1000" b="0" i="0" dirty="0">
              <a:solidFill>
                <a:srgbClr val="5A6E7C"/>
              </a:solidFill>
              <a:latin typeface="PT San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558784" y="2816352"/>
            <a:ext cx="3218688" cy="859536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58784" y="2816352"/>
            <a:ext cx="63500" cy="859536"/>
          </a:xfrm>
          <a:prstGeom prst="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9952" y="287121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58"/>
                </a:solidFill>
                <a:latin typeface="PT Sans Narrow"/>
              </a:rPr>
              <a:t>Ср. бизнес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3182112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Code=54%
Самый высокий кодинг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58784" y="3803904"/>
            <a:ext cx="3218688" cy="859536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58784" y="3803904"/>
            <a:ext cx="63500" cy="859536"/>
          </a:xfrm>
          <a:prstGeom prst="rect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59952" y="38587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8A7C"/>
                </a:solidFill>
                <a:latin typeface="PT Sans Narrow"/>
              </a:rPr>
              <a:t>ИИ-блок (!)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4169664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Lab=53%, Code=1%
Парадокс: AI без кода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58784" y="4791456"/>
            <a:ext cx="3218688" cy="859536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58784" y="4791456"/>
            <a:ext cx="63500" cy="859536"/>
          </a:xfrm>
          <a:prstGeom prst="rect">
            <a:avLst/>
          </a:prstGeom>
          <a:solidFill>
            <a:srgbClr val="9A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9952" y="48463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AA8B2"/>
                </a:solidFill>
                <a:latin typeface="PT Sans Narrow"/>
              </a:rPr>
              <a:t>Аудит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515721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Lab=96%, Code=0%
Чистые аналитики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58784" y="5779008"/>
            <a:ext cx="3218688" cy="859536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58784" y="5779008"/>
            <a:ext cx="63500" cy="859536"/>
          </a:xfrm>
          <a:prstGeom prst="rect">
            <a:avLst/>
          </a:prstGeom>
          <a:solidFill>
            <a:srgbClr val="9E9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59952" y="583387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E94C6"/>
                </a:solidFill>
                <a:latin typeface="PT Sans Narrow"/>
              </a:rPr>
              <a:t>Стратегия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614476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Lab=40%, Code=14%
Низкая исслед. активность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" y="6455664"/>
            <a:ext cx="11384280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2336" y="6528816"/>
            <a:ext cx="11384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9AA8B2"/>
                </a:solidFill>
                <a:latin typeface="PT Sans"/>
              </a:rPr>
              <a:t>n(DS)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по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блокам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: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Р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=32 ·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Вн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=24 ·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Ф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=16 · </a:t>
            </a:r>
            <a:r>
              <a:rPr sz="900" b="0" i="1" dirty="0" err="1">
                <a:solidFill>
                  <a:srgbClr val="9AA8B2"/>
                </a:solidFill>
                <a:latin typeface="PT Sans"/>
              </a:rPr>
              <a:t>Кл</a:t>
            </a:r>
            <a:r>
              <a:rPr sz="900" b="0" i="1" dirty="0">
                <a:solidFill>
                  <a:srgbClr val="9AA8B2"/>
                </a:solidFill>
                <a:latin typeface="PT Sans"/>
              </a:rPr>
              <a:t>=8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" y="118872"/>
            <a:ext cx="9144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A3642"/>
                </a:solidFill>
                <a:latin typeface="PT Sans Narrow"/>
              </a:rPr>
              <a:t>Gap-анализ: где цифровой след расходится с ожидаемым профилем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1323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Зелёный = соответствует · Красный = критический дефицит  ·  Разрыв в п.п. от целевого уровня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91440"/>
            <a:ext cx="1444752" cy="347472"/>
          </a:xfrm>
          <a:prstGeom prst="roundRect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T Sans Narrow"/>
              </a:rPr>
              <a:t>S5 · Gap-анализ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097280"/>
            <a:ext cx="11384280" cy="1016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970185"/>
              </p:ext>
            </p:extLst>
          </p:nvPr>
        </p:nvGraphicFramePr>
        <p:xfrm>
          <a:off x="402336" y="1207008"/>
          <a:ext cx="11384277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3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1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9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T Sans Narrow"/>
                        </a:rPr>
                        <a:t>Роль</a:t>
                      </a:r>
                    </a:p>
                  </a:txBody>
                  <a:tcPr>
                    <a:solidFill>
                      <a:srgbClr val="2A36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T Sans Narrow"/>
                        </a:rPr>
                        <a:t>Инструмент</a:t>
                      </a:r>
                    </a:p>
                  </a:txBody>
                  <a:tcPr>
                    <a:solidFill>
                      <a:srgbClr val="2A36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T Sans Narrow"/>
                        </a:rPr>
                        <a:t>Ожидается %</a:t>
                      </a:r>
                    </a:p>
                  </a:txBody>
                  <a:tcPr>
                    <a:solidFill>
                      <a:srgbClr val="2A36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T Sans Narrow"/>
                        </a:rPr>
                        <a:t>Факт %</a:t>
                      </a:r>
                    </a:p>
                  </a:txBody>
                  <a:tcPr>
                    <a:solidFill>
                      <a:srgbClr val="2A36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T Sans Narrow"/>
                        </a:rPr>
                        <a:t>Gap п.п.</a:t>
                      </a:r>
                    </a:p>
                  </a:txBody>
                  <a:tcPr>
                    <a:solidFill>
                      <a:srgbClr val="2A36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T Sans Narrow"/>
                        </a:rPr>
                        <a:t>Оценка</a:t>
                      </a:r>
                    </a:p>
                  </a:txBody>
                  <a:tcPr>
                    <a:solidFill>
                      <a:srgbClr val="2A3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JDS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BitBucket (код)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50%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26%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−24 п.п.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⚠ Дефицит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JDS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A3642"/>
                          </a:solidFill>
                          <a:latin typeface="PT Sans"/>
                        </a:rPr>
                        <a:t>zone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80%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82%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+2 п.п.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✓ Норма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MDS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BitBucket (код)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50%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29%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−21 п.п.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⚠ Дефицит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MDS</a:t>
                      </a:r>
                    </a:p>
                  </a:txBody>
                  <a:tcPr>
                    <a:solidFill>
                      <a:srgbClr val="ECDC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A3642"/>
                          </a:solidFill>
                          <a:latin typeface="PT Sans"/>
                        </a:rPr>
                        <a:t>zone</a:t>
                      </a:r>
                    </a:p>
                  </a:txBody>
                  <a:tcPr>
                    <a:solidFill>
                      <a:srgbClr val="ECDC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80%</a:t>
                      </a:r>
                    </a:p>
                  </a:txBody>
                  <a:tcPr>
                    <a:solidFill>
                      <a:srgbClr val="ECDC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73%</a:t>
                      </a:r>
                    </a:p>
                  </a:txBody>
                  <a:tcPr>
                    <a:solidFill>
                      <a:srgbClr val="ECDC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−7 п.п.</a:t>
                      </a:r>
                    </a:p>
                  </a:txBody>
                  <a:tcPr>
                    <a:solidFill>
                      <a:srgbClr val="ECDC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~ Допустимо</a:t>
                      </a:r>
                    </a:p>
                  </a:txBody>
                  <a:tcPr>
                    <a:solidFill>
                      <a:srgbClr val="ECD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SDC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BitBucket (код)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30%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17%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−13 п.п.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⚠ Дефицит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SDC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Confluence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50%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47%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−3 п.п.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✓ Норма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TLDS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BitBucket (код)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40%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16%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−24 п.п.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⚠ Дефицит</a:t>
                      </a:r>
                    </a:p>
                  </a:txBody>
                  <a:tcPr>
                    <a:solidFill>
                      <a:srgbClr val="ECCC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TLDS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Jira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70%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73%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+3 п.п.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✓ Норма</a:t>
                      </a:r>
                    </a:p>
                  </a:txBody>
                  <a:tcPr>
                    <a:solidFill>
                      <a:srgbClr val="BDD8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CDS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A3642"/>
                          </a:solidFill>
                          <a:latin typeface="PT Sans"/>
                        </a:rPr>
                        <a:t>zone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50%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36%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−14 п.п.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✗ Критично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CDS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Confluence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60%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20%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−40 п.п.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✗ Критично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3642"/>
                          </a:solidFill>
                          <a:latin typeface="PT Sans"/>
                        </a:rPr>
                        <a:t>CDS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BitBucket (код)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20%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4%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3642"/>
                          </a:solidFill>
                          <a:latin typeface="PT Sans"/>
                        </a:rPr>
                        <a:t>−16 п.п.</a:t>
                      </a:r>
                    </a:p>
                  </a:txBody>
                  <a:tcPr>
                    <a:solidFill>
                      <a:srgbClr val="F8C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A3642"/>
                          </a:solidFill>
                          <a:latin typeface="PT Sans"/>
                        </a:rPr>
                        <a:t>✗ </a:t>
                      </a:r>
                      <a:r>
                        <a:rPr sz="1100" b="0" dirty="0" err="1">
                          <a:solidFill>
                            <a:srgbClr val="2A3642"/>
                          </a:solidFill>
                          <a:latin typeface="PT Sans"/>
                        </a:rPr>
                        <a:t>Критично</a:t>
                      </a:r>
                      <a:endParaRPr sz="1100" b="0" dirty="0">
                        <a:solidFill>
                          <a:srgbClr val="2A3642"/>
                        </a:solidFill>
                        <a:latin typeface="PT Sans"/>
                      </a:endParaRPr>
                    </a:p>
                  </a:txBody>
                  <a:tcPr>
                    <a:solidFill>
                      <a:srgbClr val="F8C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02336" y="5779008"/>
            <a:ext cx="8229600" cy="475488"/>
          </a:xfrm>
          <a:prstGeom prst="roundRect">
            <a:avLst/>
          </a:prstGeom>
          <a:solidFill>
            <a:srgbClr val="EF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5870448"/>
            <a:ext cx="201168" cy="201168"/>
          </a:xfrm>
          <a:prstGeom prst="roundRect">
            <a:avLst/>
          </a:prstGeom>
          <a:solidFill>
            <a:srgbClr val="BD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✓ Соответствует норме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5184" y="5870448"/>
            <a:ext cx="201168" cy="201168"/>
          </a:xfrm>
          <a:prstGeom prst="roundRect">
            <a:avLst/>
          </a:prstGeom>
          <a:solidFill>
            <a:srgbClr val="EC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71216" y="58521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~ Допустимое отклонение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5870448"/>
            <a:ext cx="201168" cy="201168"/>
          </a:xfrm>
          <a:prstGeom prst="roundRect">
            <a:avLst/>
          </a:prstGeom>
          <a:solidFill>
            <a:srgbClr val="ECC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58521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⚠ Дефицит (требует внимания)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1696" y="5870448"/>
            <a:ext cx="201168" cy="201168"/>
          </a:xfrm>
          <a:prstGeom prst="roundRect">
            <a:avLst/>
          </a:prstGeom>
          <a:solidFill>
            <a:srgbClr val="F8C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67728" y="58521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✗ Критическое несоответствие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6455664"/>
            <a:ext cx="11384280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" y="6528816"/>
            <a:ext cx="11384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8B2"/>
                </a:solidFill>
                <a:latin typeface="PT Sans"/>
              </a:rPr>
              <a:t>Ожидаемый % рассчитан на основе функциональных требований к роли  ·  BitBucket = индикатор реальной модельной разработки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" y="118872"/>
            <a:ext cx="9144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A3642"/>
                </a:solidFill>
                <a:latin typeface="PT Sans Narrow"/>
              </a:rPr>
              <a:t>OS-профиль и AI-навыки: индикаторы технологической зрелости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13232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A6E7C"/>
                </a:solidFill>
                <a:latin typeface="PT Sans"/>
              </a:rPr>
              <a:t>OS-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профиль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отражает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зрелость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среды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200" b="0" i="0" dirty="0" err="1">
                <a:solidFill>
                  <a:srgbClr val="5A6E7C"/>
                </a:solidFill>
                <a:latin typeface="PT Sans"/>
              </a:rPr>
              <a:t>разработки</a:t>
            </a:r>
            <a:r>
              <a:rPr sz="1200" b="0" i="0" dirty="0">
                <a:solidFill>
                  <a:srgbClr val="5A6E7C"/>
                </a:solidFill>
                <a:latin typeface="PT Sans"/>
              </a:rPr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91440"/>
            <a:ext cx="1444752" cy="347472"/>
          </a:xfrm>
          <a:prstGeom prst="roundRect">
            <a:avLst/>
          </a:prstGeom>
          <a:solidFill>
            <a:srgbClr val="4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T Sans Narrow"/>
              </a:rPr>
              <a:t>S6 · Среда и навыки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097280"/>
            <a:ext cx="11384280" cy="1016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64567"/>
              </p:ext>
            </p:extLst>
          </p:nvPr>
        </p:nvGraphicFramePr>
        <p:xfrm>
          <a:off x="274320" y="1170432"/>
          <a:ext cx="576072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36208" y="1170432"/>
            <a:ext cx="5724144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298448"/>
            <a:ext cx="535838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2A3642"/>
                </a:solidFill>
                <a:latin typeface="PT Sans Narrow"/>
              </a:rPr>
              <a:t>Навыки</a:t>
            </a:r>
            <a:r>
              <a:rPr sz="1300" b="1" i="0" dirty="0">
                <a:solidFill>
                  <a:srgbClr val="2A3642"/>
                </a:solidFill>
                <a:latin typeface="PT Sans Narrow"/>
              </a:rPr>
              <a:t>: Classic 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9088" y="1664208"/>
            <a:ext cx="5358384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19088" y="1828800"/>
            <a:ext cx="5358384" cy="1316736"/>
          </a:xfrm>
          <a:prstGeom prst="roundRect">
            <a:avLst/>
          </a:prstGeom>
          <a:solidFill>
            <a:srgbClr val="C4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Classic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67712"/>
            <a:ext cx="2651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Feature engineering
Классические модели
Валидация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2011680"/>
            <a:ext cx="1188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91472" y="2066543"/>
            <a:ext cx="1188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A3642"/>
                </a:solidFill>
                <a:latin typeface="PT Sans Narrow"/>
              </a:rPr>
              <a:t>Автоматизируется
агентами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3291840"/>
            <a:ext cx="5358384" cy="1316736"/>
          </a:xfrm>
          <a:prstGeom prst="roundRect">
            <a:avLst/>
          </a:prstGeom>
          <a:solidFill>
            <a:srgbClr val="BD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AI-переход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30752"/>
            <a:ext cx="2651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RAG · Базовый GenAI
NLP на foundation-моделях
LoRA/SFT дообучение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91472" y="3474720"/>
            <a:ext cx="1188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91472" y="3529584"/>
            <a:ext cx="1188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A3642"/>
                </a:solidFill>
                <a:latin typeface="PT Sans Narrow"/>
              </a:rPr>
              <a:t>Массовая
переквалификация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9088" y="4754880"/>
            <a:ext cx="5358384" cy="1316736"/>
          </a:xfrm>
          <a:prstGeom prst="roundRect">
            <a:avLst/>
          </a:prstGeom>
          <a:solidFill>
            <a:srgbClr val="EC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8463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3642"/>
                </a:solidFill>
                <a:latin typeface="PT Sans Narrow"/>
              </a:rPr>
              <a:t>AI-лидерство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193792"/>
            <a:ext cx="2651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Промпт-инжиниринг
Multi-agent systems
R&amp;D в LLM/GenAI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4937760"/>
            <a:ext cx="1188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91472" y="4992624"/>
            <a:ext cx="1188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A3642"/>
                </a:solidFill>
                <a:latin typeface="PT Sans Narrow"/>
              </a:rPr>
              <a:t>Дефицит
компетенций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" y="6455664"/>
            <a:ext cx="11384280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6" y="6528816"/>
            <a:ext cx="11384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8B2"/>
                </a:solidFill>
                <a:latin typeface="PT Sans"/>
              </a:rPr>
              <a:t>MacOS-рост с JDS→TLDS (8%→31%) = индикатор зрелости dev-среды  ·  AI-переход: ~600 MDS требуют переквалификации в GenAI-трек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" y="118872"/>
            <a:ext cx="9144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A3642"/>
                </a:solidFill>
                <a:latin typeface="PT Sans Narrow"/>
              </a:rPr>
              <a:t>Поручения: 3 управленческих решения на основе цифровых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1323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E7C"/>
                </a:solidFill>
                <a:latin typeface="PT Sans"/>
              </a:rPr>
              <a:t>Каждое поручение адресует конкретный разрыв, выявленный в анализе цифровых следов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91440"/>
            <a:ext cx="1444752" cy="347472"/>
          </a:xfrm>
          <a:prstGeom prst="roundRect">
            <a:avLst/>
          </a:prstGeom>
          <a:solidFill>
            <a:srgbClr val="C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T Sans Narrow"/>
              </a:rPr>
              <a:t>S7 · Поручения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097280"/>
            <a:ext cx="11384280" cy="1016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2336" y="1207008"/>
            <a:ext cx="3840480" cy="5248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2336" y="1207008"/>
            <a:ext cx="3840480" cy="63500"/>
          </a:xfrm>
          <a:prstGeom prst="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928" y="1371600"/>
            <a:ext cx="548640" cy="548640"/>
          </a:xfrm>
          <a:prstGeom prst="ellipse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T Sans Narro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3898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3642"/>
                </a:solidFill>
                <a:latin typeface="PT Sans Narrow"/>
              </a:rPr>
              <a:t>Аудит ролевого соответствия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029968"/>
            <a:ext cx="3493008" cy="310896"/>
          </a:xfrm>
          <a:prstGeom prst="roundRect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204825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T Sans"/>
              </a:rPr>
              <a:t>Охват: CDS и TLDS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32304"/>
            <a:ext cx="3493008" cy="635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3504" y="2651760"/>
            <a:ext cx="63500" cy="63500"/>
          </a:xfrm>
          <a:prstGeom prst="ellipse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3273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A6E7C"/>
                </a:solidFill>
                <a:latin typeface="PT Sans"/>
              </a:rPr>
              <a:t>CDS: zone 36% (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норма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50%), Confluence 20% (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норма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60%)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3182112"/>
            <a:ext cx="63500" cy="63500"/>
          </a:xfrm>
          <a:prstGeom prst="ellipse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3090672"/>
            <a:ext cx="3273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TLDS: BitBucket 16% при ожидаемых 40%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712463"/>
            <a:ext cx="63500" cy="63500"/>
          </a:xfrm>
          <a:prstGeom prst="ellipse">
            <a:avLst/>
          </a:prstGeom>
          <a:solidFill>
            <a:srgbClr val="7A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3621024"/>
            <a:ext cx="3273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Рекомендация: пересмотр функционала или ротация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120640"/>
            <a:ext cx="3493008" cy="635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5230368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7AA88C"/>
                </a:solidFill>
                <a:latin typeface="PT Sans Narrow"/>
              </a:rPr>
              <a:t>Срок</a:t>
            </a:r>
            <a:r>
              <a:rPr sz="1100" b="1" i="0" dirty="0">
                <a:solidFill>
                  <a:srgbClr val="7AA88C"/>
                </a:solidFill>
                <a:latin typeface="PT Sans Narrow"/>
              </a:rPr>
              <a:t>: 202</a:t>
            </a:r>
            <a:r>
              <a:rPr lang="en-US" sz="1100" b="1" i="0" dirty="0">
                <a:solidFill>
                  <a:srgbClr val="7AA88C"/>
                </a:solidFill>
                <a:latin typeface="PT Sans Narrow"/>
              </a:rPr>
              <a:t>2</a:t>
            </a:r>
            <a:endParaRPr sz="1100" b="1" i="0" dirty="0">
              <a:solidFill>
                <a:srgbClr val="7AA88C"/>
              </a:solidFill>
              <a:latin typeface="PT Sans Narrow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5522976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E7C"/>
                </a:solidFill>
                <a:latin typeface="PT Sans"/>
              </a:rPr>
              <a:t>Ответственный: HR + CTO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1207008"/>
            <a:ext cx="3840480" cy="5248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52544" y="1207008"/>
            <a:ext cx="3840480" cy="63500"/>
          </a:xfrm>
          <a:prstGeom prst="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17136" y="1371600"/>
            <a:ext cx="548640" cy="548640"/>
          </a:xfrm>
          <a:prstGeom prst="ellipse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17136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T Sans Narrow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13898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3642"/>
                </a:solidFill>
                <a:latin typeface="PT Sans Narrow"/>
              </a:rPr>
              <a:t>Запуск GenAI-трека переквалификации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17136" y="2029968"/>
            <a:ext cx="3493008" cy="310896"/>
          </a:xfrm>
          <a:prstGeom prst="roundRect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26864" y="2048256"/>
            <a:ext cx="32735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PT Sans"/>
              </a:rPr>
              <a:t>Охват</a:t>
            </a:r>
            <a:r>
              <a:rPr sz="1100" b="1" i="0" dirty="0">
                <a:solidFill>
                  <a:srgbClr val="FFFFFF"/>
                </a:solidFill>
                <a:latin typeface="PT Sans"/>
              </a:rPr>
              <a:t>: ~60</a:t>
            </a:r>
            <a:r>
              <a:rPr lang="en-US" sz="1100" b="1" i="0" dirty="0">
                <a:solidFill>
                  <a:srgbClr val="FFFFFF"/>
                </a:solidFill>
                <a:latin typeface="PT Sans"/>
              </a:rPr>
              <a:t> </a:t>
            </a:r>
            <a:r>
              <a:rPr sz="1100" b="1" i="0" dirty="0">
                <a:solidFill>
                  <a:srgbClr val="FFFFFF"/>
                </a:solidFill>
                <a:latin typeface="PT Sans"/>
              </a:rPr>
              <a:t>Middle DS (MDS)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7136" y="2432304"/>
            <a:ext cx="3493008" cy="635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53712" y="2651760"/>
            <a:ext cx="63500" cy="63500"/>
          </a:xfrm>
          <a:prstGeom prst="ellipse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36592" y="2560320"/>
            <a:ext cx="3273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Кодеров среди MDS только 36% — 64% не пишут код</a:t>
            </a:r>
          </a:p>
        </p:txBody>
      </p:sp>
      <p:sp>
        <p:nvSpPr>
          <p:cNvPr id="35" name="Oval 34"/>
          <p:cNvSpPr/>
          <p:nvPr/>
        </p:nvSpPr>
        <p:spPr>
          <a:xfrm>
            <a:off x="4553712" y="3182112"/>
            <a:ext cx="63500" cy="63500"/>
          </a:xfrm>
          <a:prstGeom prst="ellipse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36592" y="3090672"/>
            <a:ext cx="3273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AI-навыки (LLM/LoRA/RAG) требуют системного освоения</a:t>
            </a:r>
          </a:p>
        </p:txBody>
      </p:sp>
      <p:sp>
        <p:nvSpPr>
          <p:cNvPr id="37" name="Oval 36"/>
          <p:cNvSpPr/>
          <p:nvPr/>
        </p:nvSpPr>
        <p:spPr>
          <a:xfrm>
            <a:off x="4553712" y="3712463"/>
            <a:ext cx="63500" cy="63500"/>
          </a:xfrm>
          <a:prstGeom prst="ellipse">
            <a:avLst/>
          </a:prstGeom>
          <a:solidFill>
            <a:srgbClr val="88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36592" y="3621024"/>
            <a:ext cx="3273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A6E7C"/>
                </a:solidFill>
                <a:latin typeface="PT Sans"/>
              </a:rPr>
              <a:t>Целевой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охват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: 40–50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чел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.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в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первой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волне</a:t>
            </a:r>
            <a:endParaRPr sz="1000" b="0" i="0" dirty="0">
              <a:solidFill>
                <a:srgbClr val="5A6E7C"/>
              </a:solidFill>
              <a:latin typeface="PT San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17136" y="5120640"/>
            <a:ext cx="3493008" cy="635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17136" y="5230368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889EB6"/>
                </a:solidFill>
                <a:latin typeface="PT Sans Narrow"/>
              </a:rPr>
              <a:t>Срок</a:t>
            </a:r>
            <a:r>
              <a:rPr sz="1100" b="1" i="0" dirty="0">
                <a:solidFill>
                  <a:srgbClr val="889EB6"/>
                </a:solidFill>
                <a:latin typeface="PT Sans Narrow"/>
              </a:rPr>
              <a:t>: 202</a:t>
            </a:r>
            <a:r>
              <a:rPr lang="en-US" sz="1100" b="1" i="0" dirty="0">
                <a:solidFill>
                  <a:srgbClr val="889EB6"/>
                </a:solidFill>
                <a:latin typeface="PT Sans Narrow"/>
              </a:rPr>
              <a:t>2</a:t>
            </a:r>
            <a:endParaRPr sz="1100" b="1" i="0" dirty="0">
              <a:solidFill>
                <a:srgbClr val="889EB6"/>
              </a:solidFill>
              <a:latin typeface="PT Sans Narrow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17136" y="5522976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E7C"/>
                </a:solidFill>
                <a:latin typeface="PT Sans"/>
              </a:rPr>
              <a:t>Ответственный: CDO + Learning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02752" y="1207008"/>
            <a:ext cx="3840480" cy="5248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02752" y="1207008"/>
            <a:ext cx="3840480" cy="63500"/>
          </a:xfrm>
          <a:prstGeom prst="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467344" y="1371600"/>
            <a:ext cx="548640" cy="548640"/>
          </a:xfrm>
          <a:prstGeom prst="ellipse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67344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T Sans Narrow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13898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3642"/>
                </a:solidFill>
                <a:latin typeface="PT Sans Narrow"/>
              </a:rPr>
              <a:t>Внедрить DS Activity Score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67344" y="2029968"/>
            <a:ext cx="3493008" cy="310896"/>
          </a:xfrm>
          <a:prstGeom prst="roundRect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77072" y="2048256"/>
            <a:ext cx="32735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PT Sans"/>
              </a:rPr>
              <a:t>Охват</a:t>
            </a:r>
            <a:r>
              <a:rPr sz="1100" b="1" i="0" dirty="0">
                <a:solidFill>
                  <a:srgbClr val="FFFFFF"/>
                </a:solidFill>
                <a:latin typeface="PT Sans"/>
              </a:rPr>
              <a:t>: </a:t>
            </a:r>
            <a:r>
              <a:rPr sz="1100" b="1" i="0" dirty="0" err="1">
                <a:solidFill>
                  <a:srgbClr val="FFFFFF"/>
                </a:solidFill>
                <a:latin typeface="PT Sans"/>
              </a:rPr>
              <a:t>Все</a:t>
            </a:r>
            <a:r>
              <a:rPr sz="1100" b="1" i="0" dirty="0">
                <a:solidFill>
                  <a:srgbClr val="FFFFFF"/>
                </a:solidFill>
                <a:latin typeface="PT Sans"/>
              </a:rPr>
              <a:t> 105 </a:t>
            </a:r>
            <a:r>
              <a:rPr sz="1100" b="1" i="0" dirty="0" err="1">
                <a:solidFill>
                  <a:srgbClr val="FFFFFF"/>
                </a:solidFill>
                <a:latin typeface="PT Sans"/>
              </a:rPr>
              <a:t>специалистов</a:t>
            </a:r>
            <a:endParaRPr sz="1100" b="1" i="0" dirty="0">
              <a:solidFill>
                <a:srgbClr val="FFFFFF"/>
              </a:solidFill>
              <a:latin typeface="PT San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467344" y="2432304"/>
            <a:ext cx="3493008" cy="635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503920" y="2651760"/>
            <a:ext cx="63500" cy="63500"/>
          </a:xfrm>
          <a:prstGeom prst="ellipse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0" y="2560320"/>
            <a:ext cx="3273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A6E7C"/>
                </a:solidFill>
                <a:latin typeface="PT Sans"/>
              </a:rPr>
              <a:t>Метрика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= zone +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BitBucket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+ Jira (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взвешенная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 </a:t>
            </a:r>
            <a:r>
              <a:rPr sz="1000" b="0" i="0" dirty="0" err="1">
                <a:solidFill>
                  <a:srgbClr val="5A6E7C"/>
                </a:solidFill>
                <a:latin typeface="PT Sans"/>
              </a:rPr>
              <a:t>сумма</a:t>
            </a:r>
            <a:r>
              <a:rPr sz="1000" b="0" i="0" dirty="0">
                <a:solidFill>
                  <a:srgbClr val="5A6E7C"/>
                </a:solidFill>
                <a:latin typeface="PT Sans"/>
              </a:rPr>
              <a:t>)</a:t>
            </a:r>
          </a:p>
        </p:txBody>
      </p:sp>
      <p:sp>
        <p:nvSpPr>
          <p:cNvPr id="52" name="Oval 51"/>
          <p:cNvSpPr/>
          <p:nvPr/>
        </p:nvSpPr>
        <p:spPr>
          <a:xfrm>
            <a:off x="8503920" y="3182112"/>
            <a:ext cx="63500" cy="63500"/>
          </a:xfrm>
          <a:prstGeom prst="ellipse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86800" y="3090672"/>
            <a:ext cx="3273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E7C"/>
                </a:solidFill>
                <a:latin typeface="PT Sans"/>
              </a:rPr>
              <a:t>Позволяет отслеживать реальную активность vs должность</a:t>
            </a:r>
          </a:p>
        </p:txBody>
      </p:sp>
      <p:sp>
        <p:nvSpPr>
          <p:cNvPr id="54" name="Oval 53"/>
          <p:cNvSpPr/>
          <p:nvPr/>
        </p:nvSpPr>
        <p:spPr>
          <a:xfrm>
            <a:off x="8503920" y="3712463"/>
            <a:ext cx="63500" cy="63500"/>
          </a:xfrm>
          <a:prstGeom prst="ellipse">
            <a:avLst/>
          </a:prstGeom>
          <a:solidFill>
            <a:srgbClr val="C8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0" y="3621024"/>
            <a:ext cx="3273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A6E7C"/>
                </a:solidFill>
                <a:latin typeface="PT Sans"/>
              </a:rPr>
              <a:t>Основа</a:t>
            </a:r>
            <a:endParaRPr sz="1000" b="0" i="0" dirty="0">
              <a:solidFill>
                <a:srgbClr val="5A6E7C"/>
              </a:solidFill>
              <a:latin typeface="PT San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467344" y="5120640"/>
            <a:ext cx="3493008" cy="635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67344" y="5230368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C8A258"/>
                </a:solidFill>
                <a:latin typeface="PT Sans Narrow"/>
              </a:rPr>
              <a:t>Срок</a:t>
            </a:r>
            <a:r>
              <a:rPr sz="1100" b="1" i="0" dirty="0">
                <a:solidFill>
                  <a:srgbClr val="C8A258"/>
                </a:solidFill>
                <a:latin typeface="PT Sans Narrow"/>
              </a:rPr>
              <a:t>: 202</a:t>
            </a:r>
            <a:r>
              <a:rPr lang="en-US" sz="1100" b="1" i="0" dirty="0">
                <a:solidFill>
                  <a:srgbClr val="C8A258"/>
                </a:solidFill>
                <a:latin typeface="PT Sans Narrow"/>
              </a:rPr>
              <a:t>3</a:t>
            </a:r>
            <a:endParaRPr sz="1100" b="1" i="0" dirty="0">
              <a:solidFill>
                <a:srgbClr val="C8A258"/>
              </a:solidFill>
              <a:latin typeface="PT Sans Narrow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467344" y="5522976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E7C"/>
                </a:solidFill>
                <a:latin typeface="PT Sans"/>
              </a:rPr>
              <a:t>Ответственный: Analytics + HR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" y="6455664"/>
            <a:ext cx="11384280" cy="7620"/>
          </a:xfrm>
          <a:prstGeom prst="rect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02336" y="6528816"/>
            <a:ext cx="11384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9AA8B2"/>
                </a:solidFill>
                <a:latin typeface="PT Sans"/>
              </a:rPr>
              <a:t>DS Activity Score = 0.4×one + 0.35×BitBucket + 0.25×Jira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1097</Words>
  <Application>Microsoft Macintosh PowerPoint</Application>
  <PresentationFormat>Custom</PresentationFormat>
  <Paragraphs>271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PT Sans</vt:lpstr>
      <vt:lpstr>PT Sans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Ilja</cp:lastModifiedBy>
  <cp:revision>2</cp:revision>
  <dcterms:created xsi:type="dcterms:W3CDTF">2013-01-27T09:14:16Z</dcterms:created>
  <dcterms:modified xsi:type="dcterms:W3CDTF">2026-07-18T01:41:05Z</dcterms:modified>
  <cp:category/>
</cp:coreProperties>
</file>