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 (SP)</c:v>
                </c:pt>
              </c:strCache>
            </c:strRef>
          </c:tx>
          <c:spPr>
            <a:solidFill>
              <a:srgbClr val="B8AE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D3A4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04-20</c:v>
                  </c:pt>
                  <c:pt idx="1">
                    <c:v>04-27</c:v>
                  </c:pt>
                  <c:pt idx="2">
                    <c:v>05-04</c:v>
                  </c:pt>
                  <c:pt idx="3">
                    <c:v>05-11</c:v>
                  </c:pt>
                  <c:pt idx="4">
                    <c:v>05-18</c:v>
                  </c:pt>
                  <c:pt idx="5">
                    <c:v>05-25</c:v>
                  </c:pt>
                  <c:pt idx="6">
                    <c:v>06-01</c:v>
                  </c:pt>
                  <c:pt idx="7">
                    <c:v>06-08</c:v>
                  </c:pt>
                  <c:pt idx="8">
                    <c:v>06-15</c:v>
                  </c:pt>
                  <c:pt idx="9">
                    <c:v>06-22</c:v>
                  </c:pt>
                  <c:pt idx="10">
                    <c:v>06-29</c:v>
                  </c:pt>
                  <c:pt idx="11">
                    <c:v>07-06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1408</c:v>
                </c:pt>
                <c:pt idx="1">
                  <c:v>1184</c:v>
                </c:pt>
                <c:pt idx="2">
                  <c:v>1366</c:v>
                </c:pt>
                <c:pt idx="3">
                  <c:v>1228</c:v>
                </c:pt>
                <c:pt idx="4">
                  <c:v>1384</c:v>
                </c:pt>
                <c:pt idx="5">
                  <c:v>1370</c:v>
                </c:pt>
                <c:pt idx="6">
                  <c:v>1063</c:v>
                </c:pt>
                <c:pt idx="7">
                  <c:v>1363</c:v>
                </c:pt>
                <c:pt idx="8">
                  <c:v>1473</c:v>
                </c:pt>
                <c:pt idx="9">
                  <c:v>1335</c:v>
                </c:pt>
                <c:pt idx="10">
                  <c:v>1729</c:v>
                </c:pt>
                <c:pt idx="11">
                  <c:v>1184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D3A4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spPr>
            <a:solidFill>
              <a:srgbClr val="B8AE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3A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MDL</c:v>
                  </c:pt>
                  <c:pt idx="1">
                    <c:v>SERVER</c:v>
                  </c:pt>
                  <c:pt idx="2">
                    <c:v>TIMOB</c:v>
                  </c:pt>
                  <c:pt idx="3">
                    <c:v>CONFSERVER</c:v>
                  </c:pt>
                  <c:pt idx="4">
                    <c:v>MESOS</c:v>
                  </c:pt>
                  <c:pt idx="5">
                    <c:v>COMPASS</c:v>
                  </c:pt>
                  <c:pt idx="6">
                    <c:v>XD</c:v>
                  </c:pt>
                  <c:pt idx="7">
                    <c:v>FAB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378</c:v>
                </c:pt>
                <c:pt idx="1">
                  <c:v>296</c:v>
                </c:pt>
                <c:pt idx="2">
                  <c:v>186</c:v>
                </c:pt>
                <c:pt idx="3">
                  <c:v>178</c:v>
                </c:pt>
                <c:pt idx="4">
                  <c:v>164</c:v>
                </c:pt>
                <c:pt idx="5">
                  <c:v>154</c:v>
                </c:pt>
                <c:pt idx="6">
                  <c:v>77</c:v>
                </c:pt>
                <c:pt idx="7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D3A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EDE9F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ПЯТНИЧНЫЙ АВТОПИЛОТ · SPRINT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Sprint-25: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сильный спринт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одним красным флагом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Еженедельная аналитика работы 8 команд по датасету TAWOS (agile issues из Jira). Разбор недели 15 июня 2026.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2807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Неделя 9 из 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30168" y="5029200"/>
            <a:ext cx="3611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5029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8 проектов · 7 сквадов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24928" y="5029200"/>
            <a:ext cx="341071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928" y="5029200"/>
            <a:ext cx="3410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213 задач · 1 473 SP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МозАIка · сгенерировано dashboard-architect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457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ЭТИ ДАННЫЕ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Контекст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пятницу автопилот собирает недельные метрики по всем командам и подсвечивает то, что выбивается из нормы. Sprint-25 — типичный кейс: общая картина здоровая, но алгоритм нашёл одну критическую точку.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3337560" cy="2377440"/>
          </a:xfrm>
          <a:prstGeom prst="roundRect">
            <a:avLst>
              <a:gd name="adj" fmla="val 4615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МЕРЯЕМ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Velocity, Done Rate, Cycle Time, блокеры — по каждому проекту за неделю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3108960"/>
            <a:ext cx="3337560" cy="2377440"/>
          </a:xfrm>
          <a:prstGeom prst="roundRect">
            <a:avLst>
              <a:gd name="adj" fmla="val 4615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33832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НАХОДИМ РИСКИ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38404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исторической медианой каждого проекта + балльная severity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0" y="3108960"/>
            <a:ext cx="3337560" cy="2377440"/>
          </a:xfrm>
          <a:prstGeom prst="roundRect">
            <a:avLst>
              <a:gd name="adj" fmla="val 4615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33832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38404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30 секунд понять, какой команде нужна помощь на следующей неделе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457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СПРИНТА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Спринт в цифрах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Рекордная неделя по объёму закрытой работы за весь период — и при этом стабильное качество потока.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017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VELOCITY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1 473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+8% к прошлой · рекорд периода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7432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3017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93592" y="35204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93592" y="4526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из 213 задач закрыто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904" y="27432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3017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CYCLE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18504" y="35204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7.0д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18504" y="4526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+18% — тянет вверх один проект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27432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43416" y="30175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BLOCKED+REOPEN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43416" y="35204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043416" y="45262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blocked · 13 reopened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457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 держит высокую полку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фоне 12 недель Sprint-25 — пик по story points. Done Rate стабильно колеблется вокруг 87–90%.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08813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AE3D9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914400" y="2834640"/>
          <a:ext cx="10332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⬤ Sprint-25 (06-15) — пик периода 1 473 SP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457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РАЗРЕЗ ПО КОМАНДАМ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Кто сколько вывез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MDL и SERVER тянут больше половины объёма. Одна строка выбивается красным — к ней вернёмся.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08813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AE3D9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914400" y="2788920"/>
          <a:ext cx="10332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— всего 40 SP при Done Rate 57%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457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ГЛАВНОЕ ЗА НЕДЕЛЮ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 (Blockchain) — критический провал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7E8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🔴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Провал закрытия задач + скачок cycle time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6517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Rate рухнул до 57% при норме команды ~85%. Среднее время задачи выросло до 15.5 дней против обычных 9. Два сигнала одновременно — детектор дал высший приоритет.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64040" y="2331720"/>
            <a:ext cx="1920240" cy="50292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46404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· вес 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148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Rate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(норма ~85%)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64992" y="3840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41148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15.5д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547872" y="5120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(норма ~9д)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9904" y="3840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41148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272784" y="5120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(меньше всех)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14816" y="3840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AF7F2"/>
          </a:solidFill>
          <a:ln w="12700">
            <a:solidFill>
              <a:srgbClr val="EAE3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14816" y="41148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8997696" y="5120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застряли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457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КАРТИНА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Все команды спринта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1645920"/>
                <a:gridCol w="1737360"/>
                <a:gridCol w="15544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B9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Проект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B9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Сквад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B9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B9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B9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B9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TIMOB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D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05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05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B05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B05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B05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B05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Красным — FAB: единственная команда ниже порога Done Rate 70%.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457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ДЕЙСТВИЯ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3D3A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делаем дальше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DE9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C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Разблокировать FAB на следующей неделе.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 2 blocked-задачи и длинные тикеты — cycle 15.5д говорит о застрявшем ревью или зависимостях.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DE9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C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темп ядра.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MDL, SERVER, TIMOB работают отлично (Done Rate 90–100%) — не перегружать, дать закрепить результат.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DE9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C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Следить за reopened.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переоткрытий за неделю — проверить качество приёмки, чтобы не копить скрытый долг.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E9F1E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212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🟢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37360" y="5257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D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спринт здоровый.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B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из 8 команд в норме, рекордная velocity. Единственный фокус внимания — FAB.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58400" y="53492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5349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Sprint-25 Review</dc:title>
  <dc:subject>PptxGenJS Presentation</dc:subject>
  <dc:creator>МозАIка</dc:creator>
  <cp:lastModifiedBy>МозАIка</cp:lastModifiedBy>
  <cp:revision>1</cp:revision>
  <dcterms:created xsi:type="dcterms:W3CDTF">2026-07-16T19:34:20Z</dcterms:created>
  <dcterms:modified xsi:type="dcterms:W3CDTF">2026-07-16T19:34:20Z</dcterms:modified>
</cp:coreProperties>
</file>