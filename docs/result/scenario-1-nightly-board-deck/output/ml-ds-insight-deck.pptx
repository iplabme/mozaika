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Claude Chat (%)</c:v>
                </c:pt>
              </c:strCache>
            </c:strRef>
          </c:tx>
          <c:spPr>
            <a:solidFill>
              <a:srgbClr val="0F17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F172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AA88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89EB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A6E7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2324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F172A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7AA88C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889EB6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5A6E7C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223240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Computer User Support</c:v>
                  </c:pt>
                  <c:pt idx="1">
                    <c:v>Systems Analysts</c:v>
                  </c:pt>
                  <c:pt idx="2">
                    <c:v>Data Warehousing</c:v>
                  </c:pt>
                  <c:pt idx="3">
                    <c:v>Programmers</c:v>
                  </c:pt>
                  <c:pt idx="4">
                    <c:v>QA Analysts</c:v>
                  </c:pt>
                  <c:pt idx="5">
                    <c:v>Systems Engineers</c:v>
                  </c:pt>
                  <c:pt idx="6">
                    <c:v>Hardware Engineers</c:v>
                  </c:pt>
                  <c:pt idx="7">
                    <c:v>Data Scientists</c:v>
                  </c:pt>
                  <c:pt idx="8">
                    <c:v>IS Managers</c:v>
                  </c:pt>
                  <c:pt idx="9">
                    <c:v>Stat. Assistants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2.26</c:v>
                </c:pt>
                <c:pt idx="1">
                  <c:v>2.01</c:v>
                </c:pt>
                <c:pt idx="2">
                  <c:v>1.71</c:v>
                </c:pt>
                <c:pt idx="3">
                  <c:v>1.68</c:v>
                </c:pt>
                <c:pt idx="4">
                  <c:v>1.38</c:v>
                </c:pt>
                <c:pt idx="5">
                  <c:v>1.08</c:v>
                </c:pt>
                <c:pt idx="6">
                  <c:v>0.9</c:v>
                </c:pt>
                <c:pt idx="7">
                  <c:v>0.67</c:v>
                </c:pt>
                <c:pt idx="8">
                  <c:v>0.43</c:v>
                </c:pt>
                <c:pt idx="9">
                  <c:v>0.42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PT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CD6C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PT Sa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Доля запросов (%)</c:v>
                </c:pt>
              </c:strCache>
            </c:strRef>
          </c:tx>
          <c:spPr>
            <a:solidFill>
              <a:srgbClr val="0F17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F172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AA88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89EB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A6E7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23240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Prompt engineering</c:v>
                  </c:pt>
                  <c:pt idx="1">
                    <c:v>Workflow routing</c:v>
                  </c:pt>
                  <c:pt idx="2">
                    <c:v>Structured data output</c:v>
                  </c:pt>
                  <c:pt idx="3">
                    <c:v>API debugging</c:v>
                  </c:pt>
                  <c:pt idx="4">
                    <c:v>Agent architecture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3.17</c:v>
                </c:pt>
                <c:pt idx="1">
                  <c:v>3.05</c:v>
                </c:pt>
                <c:pt idx="2">
                  <c:v>2.31</c:v>
                </c:pt>
                <c:pt idx="3">
                  <c:v>0.58</c:v>
                </c:pt>
                <c:pt idx="4">
                  <c:v>0.61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PT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CD6C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PT Sa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3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71232" y="0"/>
            <a:ext cx="1572768" cy="5143500"/>
          </a:xfrm>
          <a:prstGeom prst="rect">
            <a:avLst/>
          </a:prstGeom>
          <a:solidFill>
            <a:srgbClr val="7AA88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27264" y="841248"/>
            <a:ext cx="713232" cy="713232"/>
          </a:xfrm>
          <a:prstGeom prst="ellipse">
            <a:avLst/>
          </a:prstGeom>
          <a:solidFill>
            <a:srgbClr val="7AA88C">
              <a:alpha val="0"/>
            </a:srgbClr>
          </a:solidFill>
          <a:ln w="13970">
            <a:solidFill>
              <a:srgbClr val="DCD6CC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73568" y="4645152"/>
            <a:ext cx="475488" cy="475488"/>
          </a:xfrm>
          <a:prstGeom prst="ellipse">
            <a:avLst/>
          </a:prstGeom>
          <a:solidFill>
            <a:srgbClr val="7AA88C">
              <a:alpha val="0"/>
            </a:srgbClr>
          </a:solidFill>
          <a:ln w="12700">
            <a:solidFill>
              <a:srgbClr val="DCD6CC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60720" y="1188720"/>
            <a:ext cx="1920240" cy="1920240"/>
          </a:xfrm>
          <a:prstGeom prst="ellipse">
            <a:avLst/>
          </a:prstGeom>
          <a:solidFill>
            <a:srgbClr val="223240">
              <a:alpha val="0"/>
            </a:srgbClr>
          </a:solidFill>
          <a:ln w="12700">
            <a:solidFill>
              <a:srgbClr val="7AA88C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0" y="731520"/>
            <a:ext cx="2834640" cy="2834640"/>
          </a:xfrm>
          <a:prstGeom prst="ellipse">
            <a:avLst/>
          </a:prstGeom>
          <a:solidFill>
            <a:srgbClr val="223240">
              <a:alpha val="0"/>
            </a:srgbClr>
          </a:solidFill>
          <a:ln w="12700">
            <a:solidFill>
              <a:srgbClr val="889EB6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00600" y="228600"/>
            <a:ext cx="3840480" cy="3840480"/>
          </a:xfrm>
          <a:prstGeom prst="ellipse">
            <a:avLst/>
          </a:prstGeom>
          <a:solidFill>
            <a:srgbClr val="223240">
              <a:alpha val="0"/>
            </a:srgbClr>
          </a:solidFill>
          <a:ln w="12700">
            <a:solidFill>
              <a:srgbClr val="7AA88C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44968" y="1527048"/>
            <a:ext cx="146304" cy="146304"/>
          </a:xfrm>
          <a:prstGeom prst="ellipse">
            <a:avLst/>
          </a:prstGeom>
          <a:solidFill>
            <a:srgbClr val="7AA88C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691640"/>
            <a:ext cx="548640" cy="73152"/>
          </a:xfrm>
          <a:prstGeom prst="rect">
            <a:avLst/>
          </a:prstGeom>
          <a:solidFill>
            <a:srgbClr val="7AA88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1828800"/>
            <a:ext cx="660196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От аналитика к создателю агентов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611880"/>
            <a:ext cx="6601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7AA88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 ИИ меняет профиль ML/DS-специалиста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23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86600" y="0"/>
            <a:ext cx="2057400" cy="5143500"/>
          </a:xfrm>
          <a:prstGeom prst="rect">
            <a:avLst/>
          </a:prstGeom>
          <a:solidFill>
            <a:srgbClr val="7AA88C">
              <a:alpha val="16000"/>
            </a:srgbClr>
          </a:solidFill>
          <a:ln w="12700">
            <a:solidFill>
              <a:srgbClr val="7AA88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068312" y="1901952"/>
            <a:ext cx="1316736" cy="1316736"/>
          </a:xfrm>
          <a:prstGeom prst="ellipse">
            <a:avLst/>
          </a:prstGeom>
          <a:solidFill>
            <a:srgbClr val="7AA88C">
              <a:alpha val="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66560" y="1600200"/>
            <a:ext cx="1920240" cy="1920240"/>
          </a:xfrm>
          <a:prstGeom prst="ellipse">
            <a:avLst/>
          </a:prstGeom>
          <a:solidFill>
            <a:srgbClr val="7AA88C">
              <a:alpha val="0"/>
            </a:srgbClr>
          </a:solidFill>
          <a:ln w="12700">
            <a:solidFill>
              <a:srgbClr val="889EB6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28232" y="1261872"/>
            <a:ext cx="2596896" cy="2596896"/>
          </a:xfrm>
          <a:prstGeom prst="ellipse">
            <a:avLst/>
          </a:prstGeom>
          <a:solidFill>
            <a:srgbClr val="7AA88C">
              <a:alpha val="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94192" y="960120"/>
            <a:ext cx="91440" cy="91440"/>
          </a:xfrm>
          <a:prstGeom prst="ellipse">
            <a:avLst/>
          </a:prstGeom>
          <a:solidFill>
            <a:srgbClr val="7AA88C">
              <a:alpha val="8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94192" y="1380744"/>
            <a:ext cx="91440" cy="91440"/>
          </a:xfrm>
          <a:prstGeom prst="ellipse">
            <a:avLst/>
          </a:prstGeom>
          <a:solidFill>
            <a:srgbClr val="889EB6">
              <a:alpha val="8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94192" y="1801368"/>
            <a:ext cx="91440" cy="91440"/>
          </a:xfrm>
          <a:prstGeom prst="ellipse">
            <a:avLst/>
          </a:prstGeom>
          <a:solidFill>
            <a:srgbClr val="7AA88C">
              <a:alpha val="8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394192" y="2221992"/>
            <a:ext cx="91440" cy="91440"/>
          </a:xfrm>
          <a:prstGeom prst="ellipse">
            <a:avLst/>
          </a:prstGeom>
          <a:solidFill>
            <a:srgbClr val="889EB6">
              <a:alpha val="8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394192" y="2642616"/>
            <a:ext cx="91440" cy="91440"/>
          </a:xfrm>
          <a:prstGeom prst="ellipse">
            <a:avLst/>
          </a:prstGeom>
          <a:solidFill>
            <a:srgbClr val="7AA88C">
              <a:alpha val="8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331720"/>
            <a:ext cx="1097280" cy="91440"/>
          </a:xfrm>
          <a:prstGeom prst="rect">
            <a:avLst/>
          </a:prstGeom>
          <a:solidFill>
            <a:srgbClr val="7AA88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12801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Контекст исследования</a:t>
            </a:r>
            <a:endParaRPr lang="en-US" sz="4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FEB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4008"/>
            <a:ext cx="164592" cy="22860"/>
          </a:xfrm>
          <a:prstGeom prst="rect">
            <a:avLst/>
          </a:prstGeom>
          <a:solidFill>
            <a:srgbClr val="DCD6CC"/>
          </a:solidFill>
          <a:ln w="12700">
            <a:solidFill>
              <a:srgbClr val="DCD6C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" y="64008"/>
            <a:ext cx="164592" cy="22860"/>
          </a:xfrm>
          <a:prstGeom prst="rect">
            <a:avLst/>
          </a:prstGeom>
          <a:solidFill>
            <a:srgbClr val="889EB6"/>
          </a:solidFill>
          <a:ln w="12700">
            <a:solidFill>
              <a:srgbClr val="889EB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7008" y="64008"/>
            <a:ext cx="164592" cy="22860"/>
          </a:xfrm>
          <a:prstGeom prst="rect">
            <a:avLst/>
          </a:prstGeom>
          <a:solidFill>
            <a:srgbClr val="DCD6CC"/>
          </a:solidFill>
          <a:ln w="12700">
            <a:solidFill>
              <a:srgbClr val="DCD6C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4887468"/>
            <a:ext cx="8229600" cy="12802"/>
          </a:xfrm>
          <a:prstGeom prst="rect">
            <a:avLst/>
          </a:prstGeom>
          <a:solidFill>
            <a:srgbClr val="DCD6CC"/>
          </a:solidFill>
          <a:ln w="12700">
            <a:solidFill>
              <a:srgbClr val="DCD6CC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924044"/>
            <a:ext cx="1325880" cy="23774"/>
          </a:xfrm>
          <a:prstGeom prst="rect">
            <a:avLst/>
          </a:prstGeom>
          <a:solidFill>
            <a:srgbClr val="889EB6"/>
          </a:solidFill>
          <a:ln w="12700">
            <a:solidFill>
              <a:srgbClr val="889EB6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73736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3240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Масштаб данных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50292"/>
            <a:ext cx="8229600" cy="20117"/>
          </a:xfrm>
          <a:prstGeom prst="rect">
            <a:avLst/>
          </a:prstGeom>
          <a:solidFill>
            <a:srgbClr val="7AA88C"/>
          </a:solidFill>
          <a:ln w="12700">
            <a:solidFill>
              <a:srgbClr val="7AA88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70409"/>
            <a:ext cx="8229600" cy="82296"/>
          </a:xfrm>
          <a:prstGeom prst="rect">
            <a:avLst/>
          </a:prstGeom>
          <a:solidFill>
            <a:srgbClr val="DCD6CC">
              <a:alpha val="26000"/>
            </a:srgbClr>
          </a:solidFill>
          <a:ln w="12700">
            <a:solidFill>
              <a:srgbClr val="DCD6CC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723900"/>
            <a:ext cx="8229600" cy="12802"/>
          </a:xfrm>
          <a:prstGeom prst="rect">
            <a:avLst/>
          </a:prstGeom>
          <a:solidFill>
            <a:srgbClr val="DCD6CC"/>
          </a:solidFill>
          <a:ln w="12700">
            <a:solidFill>
              <a:srgbClr val="DCD6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171956"/>
            <a:ext cx="2596896" cy="3377184"/>
          </a:xfrm>
          <a:prstGeom prst="rect">
            <a:avLst/>
          </a:prstGeom>
          <a:solidFill>
            <a:srgbClr val="FFFFFF"/>
          </a:solidFill>
          <a:ln w="9525">
            <a:solidFill>
              <a:srgbClr val="DCD6CC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1171956"/>
            <a:ext cx="2596896" cy="91440"/>
          </a:xfrm>
          <a:prstGeom prst="rect">
            <a:avLst/>
          </a:prstGeom>
          <a:solidFill>
            <a:srgbClr val="7AA88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1427988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23240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2.1 млн строк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2013204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60" dirty="0">
                <a:solidFill>
                  <a:srgbClr val="5A6E7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Запросы из Claude Chat и 1P API, апрель–май 2026</a:t>
            </a:r>
            <a:endParaRPr lang="en-US" sz="1060" dirty="0"/>
          </a:p>
        </p:txBody>
      </p:sp>
      <p:sp>
        <p:nvSpPr>
          <p:cNvPr id="15" name="Shape 13"/>
          <p:cNvSpPr/>
          <p:nvPr/>
        </p:nvSpPr>
        <p:spPr>
          <a:xfrm>
            <a:off x="3273552" y="1336548"/>
            <a:ext cx="2596896" cy="3212592"/>
          </a:xfrm>
          <a:prstGeom prst="rect">
            <a:avLst/>
          </a:prstGeom>
          <a:solidFill>
            <a:srgbClr val="FFFFFF"/>
          </a:solidFill>
          <a:ln w="9525">
            <a:solidFill>
              <a:srgbClr val="DCD6CC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73552" y="1336548"/>
            <a:ext cx="2596896" cy="91440"/>
          </a:xfrm>
          <a:prstGeom prst="rect">
            <a:avLst/>
          </a:prstGeom>
          <a:solidFill>
            <a:srgbClr val="7AA88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502152" y="1592580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23240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23 роли ML/DS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3502152" y="2177796"/>
            <a:ext cx="213969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60" dirty="0">
                <a:solidFill>
                  <a:srgbClr val="5A6E7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Computer and Mathematical: от Data Scientists до Network Architects</a:t>
            </a:r>
            <a:endParaRPr lang="en-US" sz="1060" dirty="0"/>
          </a:p>
        </p:txBody>
      </p:sp>
      <p:sp>
        <p:nvSpPr>
          <p:cNvPr id="19" name="Shape 17"/>
          <p:cNvSpPr/>
          <p:nvPr/>
        </p:nvSpPr>
        <p:spPr>
          <a:xfrm>
            <a:off x="6089904" y="1501140"/>
            <a:ext cx="2596896" cy="30480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6CC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89904" y="1501140"/>
            <a:ext cx="2596896" cy="91440"/>
          </a:xfrm>
          <a:prstGeom prst="rect">
            <a:avLst/>
          </a:prstGeom>
          <a:solidFill>
            <a:srgbClr val="7AA88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18504" y="1757172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23240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6 разрезов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6318504" y="2342388"/>
            <a:ext cx="213969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60" dirty="0">
                <a:solidFill>
                  <a:srgbClr val="5A6E7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Роли, работа с AI, артефакты, задачи, запросы, топ-ролей</a:t>
            </a:r>
            <a:endParaRPr lang="en-US" sz="1060" dirty="0"/>
          </a:p>
        </p:txBody>
      </p:sp>
      <p:sp>
        <p:nvSpPr>
          <p:cNvPr id="23" name="Shape 21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CD6C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5A6E7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3/10</a:t>
            </a:r>
            <a:endParaRPr lang="en-US" sz="8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EB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4008"/>
            <a:ext cx="164592" cy="22860"/>
          </a:xfrm>
          <a:prstGeom prst="rect">
            <a:avLst/>
          </a:prstGeom>
          <a:solidFill>
            <a:srgbClr val="DCD6CC"/>
          </a:solidFill>
          <a:ln w="12700">
            <a:solidFill>
              <a:srgbClr val="DCD6C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" y="64008"/>
            <a:ext cx="164592" cy="22860"/>
          </a:xfrm>
          <a:prstGeom prst="rect">
            <a:avLst/>
          </a:prstGeom>
          <a:solidFill>
            <a:srgbClr val="889EB6"/>
          </a:solidFill>
          <a:ln w="12700">
            <a:solidFill>
              <a:srgbClr val="889EB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7008" y="64008"/>
            <a:ext cx="164592" cy="22860"/>
          </a:xfrm>
          <a:prstGeom prst="rect">
            <a:avLst/>
          </a:prstGeom>
          <a:solidFill>
            <a:srgbClr val="DCD6CC"/>
          </a:solidFill>
          <a:ln w="12700">
            <a:solidFill>
              <a:srgbClr val="DCD6C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4887468"/>
            <a:ext cx="8229600" cy="12802"/>
          </a:xfrm>
          <a:prstGeom prst="rect">
            <a:avLst/>
          </a:prstGeom>
          <a:solidFill>
            <a:srgbClr val="DCD6CC"/>
          </a:solidFill>
          <a:ln w="12700">
            <a:solidFill>
              <a:srgbClr val="DCD6CC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924044"/>
            <a:ext cx="1325880" cy="23774"/>
          </a:xfrm>
          <a:prstGeom prst="rect">
            <a:avLst/>
          </a:prstGeom>
          <a:solidFill>
            <a:srgbClr val="889EB6"/>
          </a:solidFill>
          <a:ln w="12700">
            <a:solidFill>
              <a:srgbClr val="889EB6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73736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3240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Топ-10 ролей ML/DS по доле использования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053084"/>
            <a:ext cx="8229600" cy="3578352"/>
          </a:xfrm>
          <a:prstGeom prst="rect">
            <a:avLst/>
          </a:prstGeom>
          <a:solidFill>
            <a:srgbClr val="FFFFFF"/>
          </a:solidFill>
          <a:ln w="8255">
            <a:solidFill>
              <a:srgbClr val="DCD6CC"/>
            </a:solidFill>
            <a:prstDash val="solid"/>
          </a:ln>
        </p:spPr>
      </p:sp>
      <p:graphicFrame>
        <p:nvGraphicFramePr>
          <p:cNvPr id="9" name="Chart 0" descr=""/>
          <p:cNvGraphicFramePr/>
          <p:nvPr/>
        </p:nvGraphicFramePr>
        <p:xfrm>
          <a:off x="621792" y="1181100"/>
          <a:ext cx="7900416" cy="3322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CD6C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5A6E7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4/10</a:t>
            </a:r>
            <a:endParaRPr lang="en-US" sz="8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23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86600" y="0"/>
            <a:ext cx="2057400" cy="5143500"/>
          </a:xfrm>
          <a:prstGeom prst="rect">
            <a:avLst/>
          </a:prstGeom>
          <a:solidFill>
            <a:srgbClr val="7AA88C">
              <a:alpha val="16000"/>
            </a:srgbClr>
          </a:solidFill>
          <a:ln w="12700">
            <a:solidFill>
              <a:srgbClr val="7AA88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068312" y="1901952"/>
            <a:ext cx="1316736" cy="1316736"/>
          </a:xfrm>
          <a:prstGeom prst="ellipse">
            <a:avLst/>
          </a:prstGeom>
          <a:solidFill>
            <a:srgbClr val="7AA88C">
              <a:alpha val="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66560" y="1600200"/>
            <a:ext cx="1920240" cy="1920240"/>
          </a:xfrm>
          <a:prstGeom prst="ellipse">
            <a:avLst/>
          </a:prstGeom>
          <a:solidFill>
            <a:srgbClr val="7AA88C">
              <a:alpha val="0"/>
            </a:srgbClr>
          </a:solidFill>
          <a:ln w="12700">
            <a:solidFill>
              <a:srgbClr val="889EB6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28232" y="1261872"/>
            <a:ext cx="2596896" cy="2596896"/>
          </a:xfrm>
          <a:prstGeom prst="ellipse">
            <a:avLst/>
          </a:prstGeom>
          <a:solidFill>
            <a:srgbClr val="7AA88C">
              <a:alpha val="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94192" y="960120"/>
            <a:ext cx="91440" cy="91440"/>
          </a:xfrm>
          <a:prstGeom prst="ellipse">
            <a:avLst/>
          </a:prstGeom>
          <a:solidFill>
            <a:srgbClr val="7AA88C">
              <a:alpha val="8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94192" y="1380744"/>
            <a:ext cx="91440" cy="91440"/>
          </a:xfrm>
          <a:prstGeom prst="ellipse">
            <a:avLst/>
          </a:prstGeom>
          <a:solidFill>
            <a:srgbClr val="889EB6">
              <a:alpha val="8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94192" y="1801368"/>
            <a:ext cx="91440" cy="91440"/>
          </a:xfrm>
          <a:prstGeom prst="ellipse">
            <a:avLst/>
          </a:prstGeom>
          <a:solidFill>
            <a:srgbClr val="7AA88C">
              <a:alpha val="8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394192" y="2221992"/>
            <a:ext cx="91440" cy="91440"/>
          </a:xfrm>
          <a:prstGeom prst="ellipse">
            <a:avLst/>
          </a:prstGeom>
          <a:solidFill>
            <a:srgbClr val="889EB6">
              <a:alpha val="8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394192" y="2642616"/>
            <a:ext cx="91440" cy="91440"/>
          </a:xfrm>
          <a:prstGeom prst="ellipse">
            <a:avLst/>
          </a:prstGeom>
          <a:solidFill>
            <a:srgbClr val="7AA88C">
              <a:alpha val="8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331720"/>
            <a:ext cx="1097280" cy="91440"/>
          </a:xfrm>
          <a:prstGeom prst="rect">
            <a:avLst/>
          </a:prstGeom>
          <a:solidFill>
            <a:srgbClr val="7AA88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12801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Эволюция роли</a:t>
            </a:r>
            <a:endParaRPr lang="en-US" sz="4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EB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4008"/>
            <a:ext cx="164592" cy="22860"/>
          </a:xfrm>
          <a:prstGeom prst="rect">
            <a:avLst/>
          </a:prstGeom>
          <a:solidFill>
            <a:srgbClr val="DCD6CC"/>
          </a:solidFill>
          <a:ln w="12700">
            <a:solidFill>
              <a:srgbClr val="DCD6C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" y="64008"/>
            <a:ext cx="164592" cy="22860"/>
          </a:xfrm>
          <a:prstGeom prst="rect">
            <a:avLst/>
          </a:prstGeom>
          <a:solidFill>
            <a:srgbClr val="889EB6"/>
          </a:solidFill>
          <a:ln w="12700">
            <a:solidFill>
              <a:srgbClr val="889EB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7008" y="64008"/>
            <a:ext cx="164592" cy="22860"/>
          </a:xfrm>
          <a:prstGeom prst="rect">
            <a:avLst/>
          </a:prstGeom>
          <a:solidFill>
            <a:srgbClr val="DCD6CC"/>
          </a:solidFill>
          <a:ln w="12700">
            <a:solidFill>
              <a:srgbClr val="DCD6C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4887468"/>
            <a:ext cx="8229600" cy="12802"/>
          </a:xfrm>
          <a:prstGeom prst="rect">
            <a:avLst/>
          </a:prstGeom>
          <a:solidFill>
            <a:srgbClr val="DCD6CC"/>
          </a:solidFill>
          <a:ln w="12700">
            <a:solidFill>
              <a:srgbClr val="DCD6CC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924044"/>
            <a:ext cx="1325880" cy="23774"/>
          </a:xfrm>
          <a:prstGeom prst="rect">
            <a:avLst/>
          </a:prstGeom>
          <a:solidFill>
            <a:srgbClr val="889EB6"/>
          </a:solidFill>
          <a:ln w="12700">
            <a:solidFill>
              <a:srgbClr val="889EB6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73736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3240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Два режима работы с AI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50292"/>
            <a:ext cx="8229600" cy="20117"/>
          </a:xfrm>
          <a:prstGeom prst="rect">
            <a:avLst/>
          </a:prstGeom>
          <a:solidFill>
            <a:srgbClr val="7AA88C"/>
          </a:solidFill>
          <a:ln w="12700">
            <a:solidFill>
              <a:srgbClr val="7AA88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70409"/>
            <a:ext cx="8229600" cy="82296"/>
          </a:xfrm>
          <a:prstGeom prst="rect">
            <a:avLst/>
          </a:prstGeom>
          <a:solidFill>
            <a:srgbClr val="DCD6CC">
              <a:alpha val="26000"/>
            </a:srgbClr>
          </a:solidFill>
          <a:ln w="12700">
            <a:solidFill>
              <a:srgbClr val="DCD6CC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723900"/>
            <a:ext cx="8229600" cy="12802"/>
          </a:xfrm>
          <a:prstGeom prst="rect">
            <a:avLst/>
          </a:prstGeom>
          <a:solidFill>
            <a:srgbClr val="DCD6CC"/>
          </a:solidFill>
          <a:ln w="12700">
            <a:solidFill>
              <a:srgbClr val="DCD6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58968" y="1126236"/>
            <a:ext cx="3227832" cy="3468624"/>
          </a:xfrm>
          <a:prstGeom prst="rect">
            <a:avLst/>
          </a:prstGeom>
          <a:solidFill>
            <a:srgbClr val="223240"/>
          </a:solidFill>
          <a:ln w="12700">
            <a:solidFill>
              <a:srgbClr val="22324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58968" y="1126236"/>
            <a:ext cx="91440" cy="3468624"/>
          </a:xfrm>
          <a:prstGeom prst="rect">
            <a:avLst/>
          </a:prstGeom>
          <a:solidFill>
            <a:srgbClr val="7AA88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733288" y="1354836"/>
            <a:ext cx="2770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7AA88C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FOCUS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CD6C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5A6E7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6/10</a:t>
            </a:r>
            <a:endParaRPr lang="en-US" sz="8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FEB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4008"/>
            <a:ext cx="164592" cy="22860"/>
          </a:xfrm>
          <a:prstGeom prst="rect">
            <a:avLst/>
          </a:prstGeom>
          <a:solidFill>
            <a:srgbClr val="DCD6CC"/>
          </a:solidFill>
          <a:ln w="12700">
            <a:solidFill>
              <a:srgbClr val="DCD6C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" y="64008"/>
            <a:ext cx="164592" cy="22860"/>
          </a:xfrm>
          <a:prstGeom prst="rect">
            <a:avLst/>
          </a:prstGeom>
          <a:solidFill>
            <a:srgbClr val="889EB6"/>
          </a:solidFill>
          <a:ln w="12700">
            <a:solidFill>
              <a:srgbClr val="889EB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7008" y="64008"/>
            <a:ext cx="164592" cy="22860"/>
          </a:xfrm>
          <a:prstGeom prst="rect">
            <a:avLst/>
          </a:prstGeom>
          <a:solidFill>
            <a:srgbClr val="DCD6CC"/>
          </a:solidFill>
          <a:ln w="12700">
            <a:solidFill>
              <a:srgbClr val="DCD6C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4887468"/>
            <a:ext cx="8229600" cy="12802"/>
          </a:xfrm>
          <a:prstGeom prst="rect">
            <a:avLst/>
          </a:prstGeom>
          <a:solidFill>
            <a:srgbClr val="DCD6CC"/>
          </a:solidFill>
          <a:ln w="12700">
            <a:solidFill>
              <a:srgbClr val="DCD6CC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924044"/>
            <a:ext cx="1325880" cy="23774"/>
          </a:xfrm>
          <a:prstGeom prst="rect">
            <a:avLst/>
          </a:prstGeom>
          <a:solidFill>
            <a:srgbClr val="889EB6"/>
          </a:solidFill>
          <a:ln w="12700">
            <a:solidFill>
              <a:srgbClr val="889EB6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73736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3240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Что создают Data Scientists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171956"/>
            <a:ext cx="2596896" cy="3377184"/>
          </a:xfrm>
          <a:prstGeom prst="rect">
            <a:avLst/>
          </a:prstGeom>
          <a:solidFill>
            <a:srgbClr val="FFFFFF"/>
          </a:solidFill>
          <a:ln w="9525">
            <a:solidFill>
              <a:srgbClr val="DCD6CC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171956"/>
            <a:ext cx="2596896" cy="91440"/>
          </a:xfrm>
          <a:prstGeom prst="rect">
            <a:avLst/>
          </a:prstGeom>
          <a:solidFill>
            <a:srgbClr val="7AA88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1427988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23240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Визуализации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013204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60" dirty="0">
                <a:solidFill>
                  <a:srgbClr val="5A6E7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26.5% — графики и дашборды, лидер среди всех ролей</a:t>
            </a:r>
            <a:endParaRPr lang="en-US" sz="1060" dirty="0"/>
          </a:p>
        </p:txBody>
      </p:sp>
      <p:sp>
        <p:nvSpPr>
          <p:cNvPr id="12" name="Shape 10"/>
          <p:cNvSpPr/>
          <p:nvPr/>
        </p:nvSpPr>
        <p:spPr>
          <a:xfrm>
            <a:off x="3273552" y="1336548"/>
            <a:ext cx="2596896" cy="3212592"/>
          </a:xfrm>
          <a:prstGeom prst="rect">
            <a:avLst/>
          </a:prstGeom>
          <a:solidFill>
            <a:srgbClr val="FFFFFF"/>
          </a:solidFill>
          <a:ln w="9525">
            <a:solidFill>
              <a:srgbClr val="DCD6CC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73552" y="1336548"/>
            <a:ext cx="2596896" cy="91440"/>
          </a:xfrm>
          <a:prstGeom prst="rect">
            <a:avLst/>
          </a:prstGeom>
          <a:solidFill>
            <a:srgbClr val="7AA88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502152" y="1592580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23240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Скрипты и код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3502152" y="2177796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60" dirty="0">
                <a:solidFill>
                  <a:srgbClr val="5A6E7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15.6% — фрагменты кода, автоматизация рутины</a:t>
            </a:r>
            <a:endParaRPr lang="en-US" sz="1060" dirty="0"/>
          </a:p>
        </p:txBody>
      </p:sp>
      <p:sp>
        <p:nvSpPr>
          <p:cNvPr id="16" name="Shape 14"/>
          <p:cNvSpPr/>
          <p:nvPr/>
        </p:nvSpPr>
        <p:spPr>
          <a:xfrm>
            <a:off x="6089904" y="1501140"/>
            <a:ext cx="2596896" cy="30480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6CC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9904" y="1501140"/>
            <a:ext cx="2596896" cy="91440"/>
          </a:xfrm>
          <a:prstGeom prst="rect">
            <a:avLst/>
          </a:prstGeom>
          <a:solidFill>
            <a:srgbClr val="7AA88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18504" y="1757172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23240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Презентации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318504" y="2342388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60" dirty="0">
                <a:solidFill>
                  <a:srgbClr val="5A6E7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15.3% — слайды и отчёты для стейкхолдеров</a:t>
            </a:r>
            <a:endParaRPr lang="en-US" sz="1060" dirty="0"/>
          </a:p>
        </p:txBody>
      </p:sp>
      <p:sp>
        <p:nvSpPr>
          <p:cNvPr id="20" name="Shape 18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CD6C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5A6E7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7/10</a:t>
            </a:r>
            <a:endParaRPr lang="en-US" sz="8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FEB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4008"/>
            <a:ext cx="164592" cy="22860"/>
          </a:xfrm>
          <a:prstGeom prst="rect">
            <a:avLst/>
          </a:prstGeom>
          <a:solidFill>
            <a:srgbClr val="DCD6CC"/>
          </a:solidFill>
          <a:ln w="12700">
            <a:solidFill>
              <a:srgbClr val="DCD6C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" y="64008"/>
            <a:ext cx="164592" cy="22860"/>
          </a:xfrm>
          <a:prstGeom prst="rect">
            <a:avLst/>
          </a:prstGeom>
          <a:solidFill>
            <a:srgbClr val="889EB6"/>
          </a:solidFill>
          <a:ln w="12700">
            <a:solidFill>
              <a:srgbClr val="889EB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7008" y="64008"/>
            <a:ext cx="164592" cy="22860"/>
          </a:xfrm>
          <a:prstGeom prst="rect">
            <a:avLst/>
          </a:prstGeom>
          <a:solidFill>
            <a:srgbClr val="DCD6CC"/>
          </a:solidFill>
          <a:ln w="12700">
            <a:solidFill>
              <a:srgbClr val="DCD6C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4887468"/>
            <a:ext cx="8229600" cy="12802"/>
          </a:xfrm>
          <a:prstGeom prst="rect">
            <a:avLst/>
          </a:prstGeom>
          <a:solidFill>
            <a:srgbClr val="DCD6CC"/>
          </a:solidFill>
          <a:ln w="12700">
            <a:solidFill>
              <a:srgbClr val="DCD6CC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924044"/>
            <a:ext cx="1325880" cy="23774"/>
          </a:xfrm>
          <a:prstGeom prst="rect">
            <a:avLst/>
          </a:prstGeom>
          <a:solidFill>
            <a:srgbClr val="889EB6"/>
          </a:solidFill>
          <a:ln w="12700">
            <a:solidFill>
              <a:srgbClr val="889EB6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92024"/>
            <a:ext cx="50292" cy="990600"/>
          </a:xfrm>
          <a:prstGeom prst="rect">
            <a:avLst/>
          </a:prstGeom>
          <a:solidFill>
            <a:srgbClr val="7AA88C"/>
          </a:solidFill>
          <a:ln w="12700">
            <a:solidFill>
              <a:srgbClr val="7AA88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73736"/>
            <a:ext cx="804672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3240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Новые запросы в 1P API: от поиска к созданию агентов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57200" y="1219200"/>
            <a:ext cx="8229600" cy="12802"/>
          </a:xfrm>
          <a:prstGeom prst="rect">
            <a:avLst/>
          </a:prstGeom>
          <a:solidFill>
            <a:srgbClr val="DCD6CC"/>
          </a:solidFill>
          <a:ln w="12700">
            <a:solidFill>
              <a:srgbClr val="DCD6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250290"/>
            <a:ext cx="1097280" cy="23774"/>
          </a:xfrm>
          <a:prstGeom prst="rect">
            <a:avLst/>
          </a:prstGeom>
          <a:solidFill>
            <a:srgbClr val="7AA88C"/>
          </a:solidFill>
          <a:ln w="12700">
            <a:solidFill>
              <a:srgbClr val="7AA88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548384"/>
            <a:ext cx="8229600" cy="3083052"/>
          </a:xfrm>
          <a:prstGeom prst="rect">
            <a:avLst/>
          </a:prstGeom>
          <a:solidFill>
            <a:srgbClr val="FFFFFF"/>
          </a:solidFill>
          <a:ln w="8255">
            <a:solidFill>
              <a:srgbClr val="DCD6CC"/>
            </a:solidFill>
            <a:prstDash val="solid"/>
          </a:ln>
        </p:spPr>
      </p:sp>
      <p:graphicFrame>
        <p:nvGraphicFramePr>
          <p:cNvPr id="12" name="Chart 0" descr=""/>
          <p:cNvGraphicFramePr/>
          <p:nvPr/>
        </p:nvGraphicFramePr>
        <p:xfrm>
          <a:off x="621792" y="1676400"/>
          <a:ext cx="7900416" cy="28270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Shape 10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CD6C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5A6E7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8/10</a:t>
            </a:r>
            <a:endParaRPr lang="en-US" sz="8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FEB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4008"/>
            <a:ext cx="164592" cy="22860"/>
          </a:xfrm>
          <a:prstGeom prst="rect">
            <a:avLst/>
          </a:prstGeom>
          <a:solidFill>
            <a:srgbClr val="DCD6CC"/>
          </a:solidFill>
          <a:ln w="12700">
            <a:solidFill>
              <a:srgbClr val="DCD6C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" y="64008"/>
            <a:ext cx="164592" cy="22860"/>
          </a:xfrm>
          <a:prstGeom prst="rect">
            <a:avLst/>
          </a:prstGeom>
          <a:solidFill>
            <a:srgbClr val="889EB6"/>
          </a:solidFill>
          <a:ln w="12700">
            <a:solidFill>
              <a:srgbClr val="889EB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7008" y="64008"/>
            <a:ext cx="164592" cy="22860"/>
          </a:xfrm>
          <a:prstGeom prst="rect">
            <a:avLst/>
          </a:prstGeom>
          <a:solidFill>
            <a:srgbClr val="DCD6CC"/>
          </a:solidFill>
          <a:ln w="12700">
            <a:solidFill>
              <a:srgbClr val="DCD6C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4887468"/>
            <a:ext cx="8229600" cy="12802"/>
          </a:xfrm>
          <a:prstGeom prst="rect">
            <a:avLst/>
          </a:prstGeom>
          <a:solidFill>
            <a:srgbClr val="DCD6CC"/>
          </a:solidFill>
          <a:ln w="12700">
            <a:solidFill>
              <a:srgbClr val="DCD6CC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924044"/>
            <a:ext cx="1325880" cy="23774"/>
          </a:xfrm>
          <a:prstGeom prst="rect">
            <a:avLst/>
          </a:prstGeom>
          <a:solidFill>
            <a:srgbClr val="889EB6"/>
          </a:solidFill>
          <a:ln w="12700">
            <a:solidFill>
              <a:srgbClr val="889EB6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73736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3240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Автономия и новые компетенции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714756"/>
            <a:ext cx="1988820" cy="27432"/>
          </a:xfrm>
          <a:prstGeom prst="rect">
            <a:avLst/>
          </a:prstGeom>
          <a:solidFill>
            <a:srgbClr val="7AA88C"/>
          </a:solidFill>
          <a:ln w="12700">
            <a:solidFill>
              <a:srgbClr val="7AA88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74036" y="723900"/>
            <a:ext cx="6112764" cy="12802"/>
          </a:xfrm>
          <a:prstGeom prst="rect">
            <a:avLst/>
          </a:prstGeom>
          <a:solidFill>
            <a:srgbClr val="DCD6CC"/>
          </a:solidFill>
          <a:ln w="12700">
            <a:solidFill>
              <a:srgbClr val="DCD6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58968" y="1126236"/>
            <a:ext cx="3227832" cy="3468624"/>
          </a:xfrm>
          <a:prstGeom prst="rect">
            <a:avLst/>
          </a:prstGeom>
          <a:solidFill>
            <a:srgbClr val="223240"/>
          </a:solidFill>
          <a:ln w="12700">
            <a:solidFill>
              <a:srgbClr val="22324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58968" y="1126236"/>
            <a:ext cx="91440" cy="3468624"/>
          </a:xfrm>
          <a:prstGeom prst="rect">
            <a:avLst/>
          </a:prstGeom>
          <a:solidFill>
            <a:srgbClr val="7AA88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733288" y="1354836"/>
            <a:ext cx="2770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7AA88C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FOCUS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CD6C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5A6E7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9/10</a:t>
            </a:r>
            <a:endParaRPr lang="en-US" sz="8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FEB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4008"/>
            <a:ext cx="164592" cy="22860"/>
          </a:xfrm>
          <a:prstGeom prst="rect">
            <a:avLst/>
          </a:prstGeom>
          <a:solidFill>
            <a:srgbClr val="DCD6CC"/>
          </a:solidFill>
          <a:ln w="12700">
            <a:solidFill>
              <a:srgbClr val="DCD6C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" y="64008"/>
            <a:ext cx="164592" cy="22860"/>
          </a:xfrm>
          <a:prstGeom prst="rect">
            <a:avLst/>
          </a:prstGeom>
          <a:solidFill>
            <a:srgbClr val="889EB6"/>
          </a:solidFill>
          <a:ln w="12700">
            <a:solidFill>
              <a:srgbClr val="889EB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7008" y="64008"/>
            <a:ext cx="164592" cy="22860"/>
          </a:xfrm>
          <a:prstGeom prst="rect">
            <a:avLst/>
          </a:prstGeom>
          <a:solidFill>
            <a:srgbClr val="DCD6CC"/>
          </a:solidFill>
          <a:ln w="12700">
            <a:solidFill>
              <a:srgbClr val="DCD6C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4887468"/>
            <a:ext cx="8229600" cy="12802"/>
          </a:xfrm>
          <a:prstGeom prst="rect">
            <a:avLst/>
          </a:prstGeom>
          <a:solidFill>
            <a:srgbClr val="DCD6CC"/>
          </a:solidFill>
          <a:ln w="12700">
            <a:solidFill>
              <a:srgbClr val="DCD6CC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924044"/>
            <a:ext cx="1325880" cy="23774"/>
          </a:xfrm>
          <a:prstGeom prst="rect">
            <a:avLst/>
          </a:prstGeom>
          <a:solidFill>
            <a:srgbClr val="889EB6"/>
          </a:solidFill>
          <a:ln w="12700">
            <a:solidFill>
              <a:srgbClr val="889EB6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73736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3240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Вывод: от аналитика к архитектору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080516"/>
            <a:ext cx="8229600" cy="1740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2324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Профиль ML/DS-специалиста эволюционирует. Data Scientists — на передовой этого сдвига: наивысшая AI-автономия, доминирование augmentation над automation, и выход prompt engineering и agent architecture в топ API-запросов. Специалисты переходят от потребления аналитики к созданию автономных систем. Источники: Claude Chat (1.6M строк) + 1P API (492K строк), апрель–май 2026.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CD6C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5A6E7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10/10</a:t>
            </a:r>
            <a:endParaRPr lang="en-US" sz="8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От аналитика к создателю агентов</dc:title>
  <dc:subject>Как ИИ меняет профиль ML/DS-специалиста</dc:subject>
  <dc:creator>PptxGenJS</dc:creator>
  <cp:lastModifiedBy>PptxGenJS</cp:lastModifiedBy>
  <cp:revision>1</cp:revision>
  <dcterms:created xsi:type="dcterms:W3CDTF">2026-07-19T00:33:51Z</dcterms:created>
  <dcterms:modified xsi:type="dcterms:W3CDTF">2026-07-19T00:33:51Z</dcterms:modified>
</cp:coreProperties>
</file>