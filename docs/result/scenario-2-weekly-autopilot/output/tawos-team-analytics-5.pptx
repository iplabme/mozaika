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AE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C6A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D777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D3A4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8AEE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8C6A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D777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3D3A42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B8AEE0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S17</c:v>
                  </c:pt>
                  <c:pt idx="1">
                    <c:v>S18</c:v>
                  </c:pt>
                  <c:pt idx="2">
                    <c:v>S19</c:v>
                  </c:pt>
                  <c:pt idx="3">
                    <c:v>S20</c:v>
                  </c:pt>
                  <c:pt idx="4">
                    <c:v>S21</c:v>
                  </c:pt>
                  <c:pt idx="5">
                    <c:v>S22</c:v>
                  </c:pt>
                  <c:pt idx="6">
                    <c:v>S23</c:v>
                  </c:pt>
                  <c:pt idx="7">
                    <c:v>S24</c:v>
                  </c:pt>
                  <c:pt idx="8">
                    <c:v>S25</c:v>
                  </c:pt>
                  <c:pt idx="9">
                    <c:v>S26</c:v>
                  </c:pt>
                  <c:pt idx="10">
                    <c:v>S27</c:v>
                  </c:pt>
                  <c:pt idx="11">
                    <c:v>S28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1408</c:v>
                </c:pt>
                <c:pt idx="1">
                  <c:v>1184</c:v>
                </c:pt>
                <c:pt idx="2">
                  <c:v>1366</c:v>
                </c:pt>
                <c:pt idx="3">
                  <c:v>1228</c:v>
                </c:pt>
                <c:pt idx="4">
                  <c:v>1384</c:v>
                </c:pt>
                <c:pt idx="5">
                  <c:v>1370</c:v>
                </c:pt>
                <c:pt idx="6">
                  <c:v>1063</c:v>
                </c:pt>
                <c:pt idx="7">
                  <c:v>1363</c:v>
                </c:pt>
                <c:pt idx="8">
                  <c:v>1473</c:v>
                </c:pt>
                <c:pt idx="9">
                  <c:v>1335</c:v>
                </c:pt>
                <c:pt idx="10">
                  <c:v>1729</c:v>
                </c:pt>
                <c:pt idx="11">
                  <c:v>1184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3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475488"/>
            <a:ext cx="0" cy="4005072"/>
          </a:xfrm>
          <a:prstGeom prst="line">
            <a:avLst/>
          </a:prstGeom>
          <a:noFill/>
          <a:ln w="6350">
            <a:solidFill>
              <a:srgbClr val="EAE3D9">
                <a:alpha val="8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16168" y="475488"/>
            <a:ext cx="0" cy="4005072"/>
          </a:xfrm>
          <a:prstGeom prst="line">
            <a:avLst/>
          </a:prstGeom>
          <a:noFill/>
          <a:ln w="6350">
            <a:solidFill>
              <a:srgbClr val="EAE3D9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0216" y="475488"/>
            <a:ext cx="0" cy="4005072"/>
          </a:xfrm>
          <a:prstGeom prst="line">
            <a:avLst/>
          </a:prstGeom>
          <a:noFill/>
          <a:ln w="6350">
            <a:solidFill>
              <a:srgbClr val="EAE3D9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84264" y="475488"/>
            <a:ext cx="0" cy="4005072"/>
          </a:xfrm>
          <a:prstGeom prst="line">
            <a:avLst/>
          </a:prstGeom>
          <a:noFill/>
          <a:ln w="6350">
            <a:solidFill>
              <a:srgbClr val="EAE3D9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68312" y="475488"/>
            <a:ext cx="0" cy="4005072"/>
          </a:xfrm>
          <a:prstGeom prst="line">
            <a:avLst/>
          </a:prstGeom>
          <a:noFill/>
          <a:ln w="6350">
            <a:solidFill>
              <a:srgbClr val="EAE3D9">
                <a:alpha val="8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75488"/>
            <a:ext cx="0" cy="4005072"/>
          </a:xfrm>
          <a:prstGeom prst="line">
            <a:avLst/>
          </a:prstGeom>
          <a:noFill/>
          <a:ln w="6350">
            <a:solidFill>
              <a:srgbClr val="EAE3D9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36408" y="475488"/>
            <a:ext cx="0" cy="4005072"/>
          </a:xfrm>
          <a:prstGeom prst="line">
            <a:avLst/>
          </a:prstGeom>
          <a:noFill/>
          <a:ln w="6350">
            <a:solidFill>
              <a:srgbClr val="EAE3D9">
                <a:alpha val="8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11112" y="2084832"/>
            <a:ext cx="768096" cy="768096"/>
          </a:xfrm>
          <a:prstGeom prst="ellipse">
            <a:avLst/>
          </a:prstGeom>
          <a:solidFill>
            <a:srgbClr val="B8AEE0">
              <a:alpha val="0"/>
            </a:srgbClr>
          </a:solidFill>
          <a:ln w="11430">
            <a:solidFill>
              <a:srgbClr val="B8AEE0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0216" y="1773936"/>
            <a:ext cx="1389888" cy="1389888"/>
          </a:xfrm>
          <a:prstGeom prst="ellipse">
            <a:avLst/>
          </a:prstGeom>
          <a:solidFill>
            <a:srgbClr val="B8AEE0">
              <a:alpha val="0"/>
            </a:srgbClr>
          </a:solidFill>
          <a:ln w="11430">
            <a:solidFill>
              <a:srgbClr val="A8C6A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71032" y="1444752"/>
            <a:ext cx="2048256" cy="2048256"/>
          </a:xfrm>
          <a:prstGeom prst="ellipse">
            <a:avLst/>
          </a:prstGeom>
          <a:solidFill>
            <a:srgbClr val="B8AEE0">
              <a:alpha val="0"/>
            </a:srgbClr>
          </a:solidFill>
          <a:ln w="11430">
            <a:solidFill>
              <a:srgbClr val="B8AEE0">
                <a:alpha val="32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6583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80" kern="0" dirty="0">
                <a:solidFill>
                  <a:srgbClr val="B8AE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BRIEF</a:t>
            </a:r>
            <a:endParaRPr lang="en-US" sz="84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05840"/>
            <a:ext cx="67665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TAWOS Team Analytics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457200" y="2002536"/>
            <a:ext cx="868680" cy="54864"/>
          </a:xfrm>
          <a:prstGeom prst="rect">
            <a:avLst/>
          </a:prstGeom>
          <a:solidFill>
            <a:srgbClr val="B8AEE0"/>
          </a:solidFill>
          <a:ln w="12700">
            <a:solidFill>
              <a:srgbClr val="B8AE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185416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Sprint-28 · качество потока восстановилось на меньшем объёме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9792" y="0"/>
            <a:ext cx="1664208" cy="146304"/>
          </a:xfrm>
          <a:prstGeom prst="rect">
            <a:avLst/>
          </a:prstGeom>
          <a:solidFill>
            <a:srgbClr val="B8AEE0"/>
          </a:solidFill>
          <a:ln w="12700">
            <a:solidFill>
              <a:srgbClr val="B8AEE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52060"/>
            <a:ext cx="9144000" cy="22860"/>
          </a:xfrm>
          <a:prstGeom prst="rect">
            <a:avLst/>
          </a:prstGeom>
          <a:solidFill>
            <a:srgbClr val="EAE3D9"/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5052060"/>
            <a:ext cx="2880360" cy="22860"/>
          </a:xfrm>
          <a:prstGeom prst="rect">
            <a:avLst/>
          </a:prstGeom>
          <a:solidFill>
            <a:srgbClr val="A8C6A1"/>
          </a:solidFill>
          <a:ln w="12700">
            <a:solidFill>
              <a:srgbClr val="A8C6A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768096"/>
            <a:ext cx="777240" cy="45720"/>
          </a:xfrm>
          <a:prstGeom prst="rect">
            <a:avLst/>
          </a:prstGeom>
          <a:solidFill>
            <a:srgbClr val="B8AEE0"/>
          </a:solidFill>
          <a:ln w="12700">
            <a:solidFill>
              <a:srgbClr val="B8AE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Контекст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1179576"/>
            <a:ext cx="2596896" cy="3369564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79576"/>
            <a:ext cx="2596896" cy="91440"/>
          </a:xfrm>
          <a:prstGeom prst="rect">
            <a:avLst/>
          </a:prstGeom>
          <a:solidFill>
            <a:srgbClr val="B8A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1435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измеряем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020824"/>
            <a:ext cx="21396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Поток задач, commitment, velocity, cycle time, блокировки и переоткрытия.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3273552" y="1344168"/>
            <a:ext cx="2596896" cy="3204972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1344168"/>
            <a:ext cx="2596896" cy="91440"/>
          </a:xfrm>
          <a:prstGeom prst="rect">
            <a:avLst/>
          </a:prstGeom>
          <a:solidFill>
            <a:srgbClr val="B8A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02152" y="16002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сравниваем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502152" y="2185416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Sprint-28 против Sprint-27 и истории за 12 спринтов.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089904" y="1508760"/>
            <a:ext cx="2596896" cy="30403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1508760"/>
            <a:ext cx="2596896" cy="91440"/>
          </a:xfrm>
          <a:prstGeom prst="rect">
            <a:avLst/>
          </a:prstGeom>
          <a:solidFill>
            <a:srgbClr val="B8A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18504" y="176479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Ограничение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2350008"/>
            <a:ext cx="21396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Целевые уровни отсутствуют в источнике; сравнение с планом исключено.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AE3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2/7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9792" y="0"/>
            <a:ext cx="1664208" cy="146304"/>
          </a:xfrm>
          <a:prstGeom prst="rect">
            <a:avLst/>
          </a:prstGeom>
          <a:solidFill>
            <a:srgbClr val="B8AEE0"/>
          </a:solidFill>
          <a:ln w="12700">
            <a:solidFill>
              <a:srgbClr val="B8AEE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52060"/>
            <a:ext cx="9144000" cy="22860"/>
          </a:xfrm>
          <a:prstGeom prst="rect">
            <a:avLst/>
          </a:prstGeom>
          <a:solidFill>
            <a:srgbClr val="EAE3D9"/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5052060"/>
            <a:ext cx="2880360" cy="22860"/>
          </a:xfrm>
          <a:prstGeom prst="rect">
            <a:avLst/>
          </a:prstGeom>
          <a:solidFill>
            <a:srgbClr val="A8C6A1"/>
          </a:solidFill>
          <a:ln w="12700">
            <a:solidFill>
              <a:srgbClr val="A8C6A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B8AEE0"/>
          </a:solidFill>
          <a:ln w="12700">
            <a:solidFill>
              <a:srgbClr val="B8AE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Главное в цифрах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Качество улучшилось при меньшем объёме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345692"/>
            <a:ext cx="3429000" cy="3139440"/>
          </a:xfrm>
          <a:prstGeom prst="rect">
            <a:avLst/>
          </a:prstGeom>
          <a:solidFill>
            <a:srgbClr val="3D3A42"/>
          </a:solidFill>
          <a:ln w="12700">
            <a:solidFill>
              <a:srgbClr val="3D3A4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345692"/>
            <a:ext cx="91440" cy="3139440"/>
          </a:xfrm>
          <a:prstGeom prst="rect">
            <a:avLst/>
          </a:prstGeom>
          <a:solidFill>
            <a:srgbClr val="A8C6A1"/>
          </a:solidFill>
          <a:ln w="12700">
            <a:solidFill>
              <a:srgbClr val="A8C6A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1784604"/>
            <a:ext cx="2898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A8C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89,0%</a:t>
            </a:r>
            <a:endParaRPr lang="en-US" sz="50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790444"/>
            <a:ext cx="2898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 rate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3558540"/>
            <a:ext cx="289864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+4,9 п.п. к Sprint-27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78808" y="1345692"/>
            <a:ext cx="4507992" cy="948944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78808" y="1345692"/>
            <a:ext cx="64008" cy="948944"/>
          </a:xfrm>
          <a:prstGeom prst="rect">
            <a:avLst/>
          </a:prstGeom>
          <a:solidFill>
            <a:srgbClr val="A8C6A1"/>
          </a:solidFill>
          <a:ln w="12700">
            <a:solidFill>
              <a:srgbClr val="A8C6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61688" y="14371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8C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89,1%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361688" y="18943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Commitment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361688" y="2333244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+1,5 п.п.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78808" y="2440940"/>
            <a:ext cx="4507992" cy="948944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78808" y="2440940"/>
            <a:ext cx="64008" cy="948944"/>
          </a:xfrm>
          <a:prstGeom prst="rect">
            <a:avLst/>
          </a:prstGeom>
          <a:solidFill>
            <a:srgbClr val="B8AEE0"/>
          </a:solidFill>
          <a:ln w="12700">
            <a:solidFill>
              <a:srgbClr val="B8AE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61688" y="25323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AE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5,9 дня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361688" y="298958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 time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361688" y="3428492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−17,1%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78808" y="3536188"/>
            <a:ext cx="4507992" cy="948944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78808" y="3536188"/>
            <a:ext cx="64008" cy="948944"/>
          </a:xfrm>
          <a:prstGeom prst="rect">
            <a:avLst/>
          </a:prstGeom>
          <a:solidFill>
            <a:srgbClr val="A8C6A1"/>
          </a:solidFill>
          <a:ln w="12700">
            <a:solidFill>
              <a:srgbClr val="A8C6A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61688" y="36276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8C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1 184 SP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361688" y="408482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Velocity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361688" y="4523740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−31,5%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AE3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3/7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9792" y="0"/>
            <a:ext cx="1664208" cy="146304"/>
          </a:xfrm>
          <a:prstGeom prst="rect">
            <a:avLst/>
          </a:prstGeom>
          <a:solidFill>
            <a:srgbClr val="B8AEE0"/>
          </a:solidFill>
          <a:ln w="12700">
            <a:solidFill>
              <a:srgbClr val="B8AEE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52060"/>
            <a:ext cx="9144000" cy="22860"/>
          </a:xfrm>
          <a:prstGeom prst="rect">
            <a:avLst/>
          </a:prstGeom>
          <a:solidFill>
            <a:srgbClr val="EAE3D9"/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5052060"/>
            <a:ext cx="2880360" cy="22860"/>
          </a:xfrm>
          <a:prstGeom prst="rect">
            <a:avLst/>
          </a:prstGeom>
          <a:solidFill>
            <a:srgbClr val="A8C6A1"/>
          </a:solidFill>
          <a:ln w="12700">
            <a:solidFill>
              <a:srgbClr val="A8C6A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B8AEE0"/>
          </a:solidFill>
          <a:ln w="12700">
            <a:solidFill>
              <a:srgbClr val="B8AE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Динамика за 12 спринтов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Sprint-28 вернулся к обычному диапазону качества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272540"/>
            <a:ext cx="8229600" cy="3358896"/>
          </a:xfrm>
          <a:prstGeom prst="rect">
            <a:avLst/>
          </a:prstGeom>
          <a:solidFill>
            <a:srgbClr val="FFFFFF"/>
          </a:solidFill>
          <a:ln w="8255">
            <a:solidFill>
              <a:srgbClr val="EAE3D9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621792" y="1400556"/>
          <a:ext cx="7900416" cy="31028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AE3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4/7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D3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Moodle: локальная точка внимания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35152"/>
            <a:ext cx="82296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 rate 72,5%, но cycle time улучшился на 35% — не смешиваем завершение с перегрузкой.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3057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8C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−2,5 п.п.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217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Изменение done rate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75081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Sprint-28 против Sprint-27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AE3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5/7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9792" y="0"/>
            <a:ext cx="1664208" cy="146304"/>
          </a:xfrm>
          <a:prstGeom prst="rect">
            <a:avLst/>
          </a:prstGeom>
          <a:solidFill>
            <a:srgbClr val="B8AEE0"/>
          </a:solidFill>
          <a:ln w="12700">
            <a:solidFill>
              <a:srgbClr val="B8AEE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52060"/>
            <a:ext cx="9144000" cy="22860"/>
          </a:xfrm>
          <a:prstGeom prst="rect">
            <a:avLst/>
          </a:prstGeom>
          <a:solidFill>
            <a:srgbClr val="EAE3D9"/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5052060"/>
            <a:ext cx="2880360" cy="22860"/>
          </a:xfrm>
          <a:prstGeom prst="rect">
            <a:avLst/>
          </a:prstGeom>
          <a:solidFill>
            <a:srgbClr val="A8C6A1"/>
          </a:solidFill>
          <a:ln w="12700">
            <a:solidFill>
              <a:srgbClr val="A8C6A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768096"/>
            <a:ext cx="777240" cy="45720"/>
          </a:xfrm>
          <a:prstGeom prst="rect">
            <a:avLst/>
          </a:prstGeom>
          <a:solidFill>
            <a:srgbClr val="B8AEE0"/>
          </a:solidFill>
          <a:ln w="12700">
            <a:solidFill>
              <a:srgbClr val="B8AE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Восемь проектов Sprint-28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42416"/>
          <a:ext cx="8229600" cy="3273552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Объект</a:t>
                      </a:r>
                      <a:endParaRPr lang="en-US" sz="102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3A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Команда</a:t>
                      </a:r>
                      <a:endParaRPr lang="en-US" sz="102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3A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Done rate</a:t>
                      </a:r>
                      <a:endParaRPr lang="en-US" sz="102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3A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Commitment</a:t>
                      </a:r>
                      <a:endParaRPr lang="en-US" sz="102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3A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Cycle time</a:t>
                      </a:r>
                      <a:endParaRPr lang="en-US" sz="102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3A4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Apache Mesos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Platform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90.9%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90.4%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5.7 дня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Confluence Server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94.4%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98.5%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5.1 дня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Hyperledger Fabric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Blockchain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84.6%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82.6%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7.8 дня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MongoDB Compass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93.8%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88.6%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3.5 дня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MongoDB Core Server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94.3%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96.3%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5.8 дня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Moodle Platform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Full-stack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72.5%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81.2%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8.0 дня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Spring XD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92.9%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75.9%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6.2 дня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Titanium SDK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Mobile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100.0%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3D3A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4.8 дня</a:t>
                      </a:r>
                      <a:endParaRPr lang="en-US" sz="89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AE3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6/7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9792" y="0"/>
            <a:ext cx="1664208" cy="146304"/>
          </a:xfrm>
          <a:prstGeom prst="rect">
            <a:avLst/>
          </a:prstGeom>
          <a:solidFill>
            <a:srgbClr val="B8AEE0"/>
          </a:solidFill>
          <a:ln w="12700">
            <a:solidFill>
              <a:srgbClr val="B8AEE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146304"/>
            <a:ext cx="10973" cy="310896"/>
          </a:xfrm>
          <a:prstGeom prst="rect">
            <a:avLst/>
          </a:prstGeom>
          <a:solidFill>
            <a:srgbClr val="EAE3D9">
              <a:alpha val="82000"/>
            </a:srgbClr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52060"/>
            <a:ext cx="9144000" cy="22860"/>
          </a:xfrm>
          <a:prstGeom prst="rect">
            <a:avLst/>
          </a:prstGeom>
          <a:solidFill>
            <a:srgbClr val="EAE3D9"/>
          </a:solidFill>
          <a:ln w="12700">
            <a:solidFill>
              <a:srgbClr val="EAE3D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5052060"/>
            <a:ext cx="2880360" cy="22860"/>
          </a:xfrm>
          <a:prstGeom prst="rect">
            <a:avLst/>
          </a:prstGeom>
          <a:solidFill>
            <a:srgbClr val="A8C6A1"/>
          </a:solidFill>
          <a:ln w="12700">
            <a:solidFill>
              <a:srgbClr val="A8C6A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768096"/>
            <a:ext cx="777240" cy="45720"/>
          </a:xfrm>
          <a:prstGeom prst="rect">
            <a:avLst/>
          </a:prstGeom>
          <a:solidFill>
            <a:srgbClr val="B8AEE0"/>
          </a:solidFill>
          <a:ln w="12700">
            <a:solidFill>
              <a:srgbClr val="B8AE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делаем дальше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22860"/>
          </a:xfrm>
          <a:prstGeom prst="rect">
            <a:avLst/>
          </a:prstGeom>
          <a:solidFill>
            <a:srgbClr val="EAE3D9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73936" y="1298448"/>
            <a:ext cx="0" cy="2468880"/>
          </a:xfrm>
          <a:prstGeom prst="line">
            <a:avLst/>
          </a:prstGeom>
          <a:noFill/>
          <a:ln w="7620">
            <a:solidFill>
              <a:srgbClr val="EAE3D9">
                <a:alpha val="8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1563624"/>
            <a:ext cx="164592" cy="164592"/>
          </a:xfrm>
          <a:prstGeom prst="ellipse">
            <a:avLst/>
          </a:prstGeom>
          <a:solidFill>
            <a:srgbClr val="B8AEE0"/>
          </a:solidFill>
          <a:ln w="13970">
            <a:solidFill>
              <a:srgbClr val="F4F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11556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0" b="1" spc="110" kern="0" dirty="0">
                <a:solidFill>
                  <a:srgbClr val="B8AE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2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93852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Moodle</a:t>
            </a:r>
            <a:endParaRPr lang="en-US" sz="112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395728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Разобрать незавершённые задачи, сохранив улучшившийся cycle time.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4572000" y="1298448"/>
            <a:ext cx="0" cy="2468880"/>
          </a:xfrm>
          <a:prstGeom prst="line">
            <a:avLst/>
          </a:prstGeom>
          <a:noFill/>
          <a:ln w="7620">
            <a:solidFill>
              <a:srgbClr val="EAE3D9">
                <a:alpha val="8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9704" y="1563624"/>
            <a:ext cx="164592" cy="164592"/>
          </a:xfrm>
          <a:prstGeom prst="ellipse">
            <a:avLst/>
          </a:prstGeom>
          <a:solidFill>
            <a:srgbClr val="A8C6A1"/>
          </a:solidFill>
          <a:ln w="13970">
            <a:solidFill>
              <a:srgbClr val="F4F1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55264" y="111556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0" b="1" spc="110" kern="0" dirty="0">
                <a:solidFill>
                  <a:srgbClr val="A8C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20" dirty="0"/>
          </a:p>
        </p:txBody>
      </p:sp>
      <p:sp>
        <p:nvSpPr>
          <p:cNvPr id="19" name="Text 17"/>
          <p:cNvSpPr txBox="1"/>
          <p:nvPr/>
        </p:nvSpPr>
        <p:spPr>
          <a:xfrm>
            <a:off x="3255264" y="193852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Core Server</a:t>
            </a:r>
            <a:endParaRPr lang="en-US" sz="1120" dirty="0"/>
          </a:p>
        </p:txBody>
      </p:sp>
      <p:sp>
        <p:nvSpPr>
          <p:cNvPr id="20" name="Text 18"/>
          <p:cNvSpPr txBox="1"/>
          <p:nvPr/>
        </p:nvSpPr>
        <p:spPr>
          <a:xfrm>
            <a:off x="3255264" y="2395728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Проверить причины роста cycle time на 20,8%.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7370064" y="1298448"/>
            <a:ext cx="0" cy="2468880"/>
          </a:xfrm>
          <a:prstGeom prst="line">
            <a:avLst/>
          </a:prstGeom>
          <a:noFill/>
          <a:ln w="7620">
            <a:solidFill>
              <a:srgbClr val="EAE3D9">
                <a:alpha val="8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87768" y="1563624"/>
            <a:ext cx="164592" cy="164592"/>
          </a:xfrm>
          <a:prstGeom prst="ellipse">
            <a:avLst/>
          </a:prstGeom>
          <a:solidFill>
            <a:srgbClr val="B8AEE0"/>
          </a:solidFill>
          <a:ln w="13970">
            <a:solidFill>
              <a:srgbClr val="F4F1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11556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0" b="1" spc="110" kern="0" dirty="0">
                <a:solidFill>
                  <a:srgbClr val="B8AE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20" dirty="0"/>
          </a:p>
        </p:txBody>
      </p:sp>
      <p:sp>
        <p:nvSpPr>
          <p:cNvPr id="24" name="Text 22"/>
          <p:cNvSpPr txBox="1"/>
          <p:nvPr/>
        </p:nvSpPr>
        <p:spPr>
          <a:xfrm>
            <a:off x="6053328" y="193852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XD</a:t>
            </a:r>
            <a:endParaRPr lang="en-US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6053328" y="2395728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Уточнить разрыв между done rate 92,9% и commitment 75,9%.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AE3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7D7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7/7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TAWOS Team Analytics</dc:title>
  <dc:subject>Sprint-28: качество потока восстановилось на меньшем объёме</dc:subject>
  <dc:creator>PptxGenJS</dc:creator>
  <cp:lastModifiedBy>PptxGenJS</cp:lastModifiedBy>
  <cp:revision>1</cp:revision>
  <dcterms:created xsi:type="dcterms:W3CDTF">2026-07-18T20:47:29Z</dcterms:created>
  <dcterms:modified xsi:type="dcterms:W3CDTF">2026-07-18T20:47:29Z</dcterms:modified>
</cp:coreProperties>
</file>